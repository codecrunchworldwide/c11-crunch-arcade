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61" r:id="rId4"/>
    <p:sldMasterId id="214748367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6858000" cx="12192000"/>
  <p:notesSz cx="6858000" cy="9144000"/>
  <p:embeddedFontLst>
    <p:embeddedFont>
      <p:font typeface="Play"/>
      <p:regular r:id="rId25"/>
      <p:bold r:id="rId26"/>
    </p:embeddedFont>
    <p:embeddedFont>
      <p:font typeface="Robot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1" roundtripDataSignature="AMtx7mjchPkWM4SWcTlca3cIJ8wNJtgy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3.xml"/><Relationship Id="rId26" Type="http://schemas.openxmlformats.org/officeDocument/2006/relationships/font" Target="fonts/Play-bold.fntdata"/><Relationship Id="rId25" Type="http://schemas.openxmlformats.org/officeDocument/2006/relationships/font" Target="fonts/Play-regular.fntdata"/><Relationship Id="rId28" Type="http://schemas.openxmlformats.org/officeDocument/2006/relationships/font" Target="fonts/Roboto-bold.fntdata"/><Relationship Id="rId27" Type="http://schemas.openxmlformats.org/officeDocument/2006/relationships/font" Target="fonts/Roboto-regular.fntdata"/><Relationship Id="rId5" Type="http://schemas.openxmlformats.org/officeDocument/2006/relationships/slideMaster" Target="slideMasters/slideMaster3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customschemas.google.com/relationships/presentationmetadata" Target="metadata"/><Relationship Id="rId30" Type="http://schemas.openxmlformats.org/officeDocument/2006/relationships/font" Target="fonts/Roboto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d5b2b5e3c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g2d5b2b5e3c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297b211bca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g3297b211bca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d5b2b5e3c8_0_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4" name="Google Shape;224;g2d5b2b5e3c8_0_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2b704b8690_1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3" name="Google Shape;233;g32b704b8690_1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2b704b8690_1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2" name="Google Shape;242;g32b704b8690_1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2b704b8690_1_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1" name="Google Shape;251;g32b704b8690_1_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2b704b8690_1_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6" name="Google Shape;266;g32b704b8690_1_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2ce0f53227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5" name="Google Shape;275;g32ce0f53227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2b704b8690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4" name="Google Shape;284;g32b704b8690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2b704b8690_1_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3" name="Google Shape;293;g32b704b8690_1_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2b704b8690_1_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2" name="Google Shape;302;g32b704b8690_1_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2b704b8690_1_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2" name="Google Shape;312;g32b704b8690_1_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2bb439bc28_0_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2" name="Google Shape;322;g32bb439bc28_0_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2bb88d3e9b_0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5" name="Google Shape;335;g32bb88d3e9b_0_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2bb88d3e9b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5" name="Google Shape;345;g32bb88d3e9b_0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2bb88d3e9b_0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5" name="Google Shape;355;g32bb88d3e9b_0_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2d5b2b5e3c8_0_1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4" name="Google Shape;364;g2d5b2b5e3c8_0_1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29c33c8422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2" name="Google Shape;372;g329c33c8422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3" name="Google Shape;373;g329c33c8422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11fd835375_0_89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15" name="Google Shape;15;g311fd835375_0_89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6" name="Google Shape;16;g311fd835375_0_8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11fd835375_0_93"/>
          <p:cNvSpPr txBox="1"/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g311fd835375_0_9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11fd835375_0_96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2" name="Google Shape;22;g311fd835375_0_96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23" name="Google Shape;23;g311fd835375_0_9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11fd835375_0_100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6" name="Google Shape;26;g311fd835375_0_100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7" name="Google Shape;27;g311fd835375_0_100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8" name="Google Shape;28;g311fd835375_0_10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11fd835375_0_105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1" name="Google Shape;31;g311fd835375_0_10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11fd835375_0_108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4" name="Google Shape;34;g311fd835375_0_108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5" name="Google Shape;35;g311fd835375_0_10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11fd835375_0_112"/>
          <p:cNvSpPr txBox="1"/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38" name="Google Shape;38;g311fd835375_0_11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11fd835375_0_115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g311fd835375_0_115"/>
          <p:cNvSpPr txBox="1"/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42" name="Google Shape;42;g311fd835375_0_115"/>
          <p:cNvSpPr txBox="1"/>
          <p:nvPr>
            <p:ph idx="1" type="subTitle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3" name="Google Shape;43;g311fd835375_0_115"/>
          <p:cNvSpPr txBox="1"/>
          <p:nvPr>
            <p:ph idx="2" type="body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4" name="Google Shape;44;g311fd835375_0_11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11fd835375_0_121"/>
          <p:cNvSpPr txBox="1"/>
          <p:nvPr>
            <p:ph idx="1" type="body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47" name="Google Shape;47;g311fd835375_0_12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11fd835375_0_124"/>
          <p:cNvSpPr txBox="1"/>
          <p:nvPr>
            <p:ph hasCustomPrompt="1" type="title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50" name="Google Shape;50;g311fd835375_0_124"/>
          <p:cNvSpPr txBox="1"/>
          <p:nvPr>
            <p:ph idx="1" type="body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51" name="Google Shape;51;g311fd835375_0_12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11fd835375_0_12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11fd835375_0_13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56" name="Google Shape;56;g311fd835375_0_13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indent="-3492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indent="-3492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57" name="Google Shape;57;g311fd835375_0_13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Google Shape;58;g311fd835375_0_13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g311fd835375_0_13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297b211bca_0_220"/>
          <p:cNvSpPr/>
          <p:nvPr/>
        </p:nvSpPr>
        <p:spPr>
          <a:xfrm flipH="1">
            <a:off x="10995300" y="5661233"/>
            <a:ext cx="1196700" cy="11967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g3297b211bca_0_220"/>
          <p:cNvSpPr/>
          <p:nvPr/>
        </p:nvSpPr>
        <p:spPr>
          <a:xfrm flipH="1">
            <a:off x="10995300" y="5661167"/>
            <a:ext cx="1196700" cy="1196700"/>
          </a:xfrm>
          <a:prstGeom prst="round1Rect">
            <a:avLst>
              <a:gd fmla="val 16667" name="adj"/>
            </a:avLst>
          </a:prstGeom>
          <a:solidFill>
            <a:schemeClr val="lt1">
              <a:alpha val="67058"/>
            </a:schemeClr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g3297b211bca_0_220"/>
          <p:cNvSpPr txBox="1"/>
          <p:nvPr>
            <p:ph type="ctrTitle"/>
          </p:nvPr>
        </p:nvSpPr>
        <p:spPr>
          <a:xfrm>
            <a:off x="520700" y="2425700"/>
            <a:ext cx="109629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69" name="Google Shape;69;g3297b211bca_0_220"/>
          <p:cNvSpPr txBox="1"/>
          <p:nvPr>
            <p:ph idx="1" type="subTitle"/>
          </p:nvPr>
        </p:nvSpPr>
        <p:spPr>
          <a:xfrm>
            <a:off x="520700" y="3718840"/>
            <a:ext cx="109629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" name="Google Shape;70;g3297b211bca_0_220"/>
          <p:cNvSpPr txBox="1"/>
          <p:nvPr>
            <p:ph idx="12" type="sldNum"/>
          </p:nvPr>
        </p:nvSpPr>
        <p:spPr>
          <a:xfrm>
            <a:off x="11364721" y="6260831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297b211bca_0_226"/>
          <p:cNvSpPr/>
          <p:nvPr/>
        </p:nvSpPr>
        <p:spPr>
          <a:xfrm flipH="1" rot="10800000">
            <a:off x="0" y="2247900"/>
            <a:ext cx="12192000" cy="4610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g3297b211bca_0_226"/>
          <p:cNvSpPr/>
          <p:nvPr/>
        </p:nvSpPr>
        <p:spPr>
          <a:xfrm>
            <a:off x="0" y="2248000"/>
            <a:ext cx="12192000" cy="1449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g3297b211bca_0_226"/>
          <p:cNvSpPr txBox="1"/>
          <p:nvPr>
            <p:ph type="title"/>
          </p:nvPr>
        </p:nvSpPr>
        <p:spPr>
          <a:xfrm>
            <a:off x="629200" y="984967"/>
            <a:ext cx="10962900" cy="10236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9pPr>
          </a:lstStyle>
          <a:p/>
        </p:txBody>
      </p:sp>
      <p:sp>
        <p:nvSpPr>
          <p:cNvPr id="75" name="Google Shape;75;g3297b211bca_0_226"/>
          <p:cNvSpPr txBox="1"/>
          <p:nvPr>
            <p:ph idx="1" type="body"/>
          </p:nvPr>
        </p:nvSpPr>
        <p:spPr>
          <a:xfrm>
            <a:off x="629200" y="2558767"/>
            <a:ext cx="10962900" cy="3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55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1pPr>
            <a:lvl2pPr indent="-3556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2pPr>
            <a:lvl3pPr indent="-3556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3pPr>
            <a:lvl4pPr indent="-3556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4pPr>
            <a:lvl5pPr indent="-3556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5pPr>
            <a:lvl6pPr indent="-3556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6pPr>
            <a:lvl7pPr indent="-3556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7pPr>
            <a:lvl8pPr indent="-3556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8pPr>
            <a:lvl9pPr indent="-3556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9pPr>
          </a:lstStyle>
          <a:p/>
        </p:txBody>
      </p:sp>
      <p:sp>
        <p:nvSpPr>
          <p:cNvPr id="76" name="Google Shape;76;g3297b211bca_0_226"/>
          <p:cNvSpPr txBox="1"/>
          <p:nvPr>
            <p:ph idx="12" type="sldNum"/>
          </p:nvPr>
        </p:nvSpPr>
        <p:spPr>
          <a:xfrm>
            <a:off x="11364721" y="6260831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297b211bca_0_232"/>
          <p:cNvSpPr txBox="1"/>
          <p:nvPr>
            <p:ph type="title"/>
          </p:nvPr>
        </p:nvSpPr>
        <p:spPr>
          <a:xfrm>
            <a:off x="653667" y="651000"/>
            <a:ext cx="83028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79" name="Google Shape;79;g3297b211bca_0_232"/>
          <p:cNvSpPr txBox="1"/>
          <p:nvPr>
            <p:ph idx="12" type="sldNum"/>
          </p:nvPr>
        </p:nvSpPr>
        <p:spPr>
          <a:xfrm>
            <a:off x="11364721" y="6260831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297b211bca_0_235"/>
          <p:cNvSpPr txBox="1"/>
          <p:nvPr>
            <p:ph type="title"/>
          </p:nvPr>
        </p:nvSpPr>
        <p:spPr>
          <a:xfrm>
            <a:off x="614600" y="2753800"/>
            <a:ext cx="10962900" cy="135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82" name="Google Shape;82;g3297b211bca_0_235"/>
          <p:cNvSpPr txBox="1"/>
          <p:nvPr>
            <p:ph idx="12" type="sldNum"/>
          </p:nvPr>
        </p:nvSpPr>
        <p:spPr>
          <a:xfrm>
            <a:off x="11364721" y="6260831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OBJECT_1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297b211bca_0_23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85" name="Google Shape;85;g3297b211bca_0_238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indent="-3492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indent="-3492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86" name="Google Shape;86;g3297b211bca_0_238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7" name="Google Shape;87;g3297b211bca_0_238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8" name="Google Shape;88;g3297b211bca_0_238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297b211bca_0_244"/>
          <p:cNvSpPr/>
          <p:nvPr/>
        </p:nvSpPr>
        <p:spPr>
          <a:xfrm flipH="1" rot="10800000">
            <a:off x="0" y="2247900"/>
            <a:ext cx="12192000" cy="4610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g3297b211bca_0_244"/>
          <p:cNvSpPr/>
          <p:nvPr/>
        </p:nvSpPr>
        <p:spPr>
          <a:xfrm>
            <a:off x="0" y="2248000"/>
            <a:ext cx="12192000" cy="1449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g3297b211bca_0_244"/>
          <p:cNvSpPr txBox="1"/>
          <p:nvPr>
            <p:ph type="title"/>
          </p:nvPr>
        </p:nvSpPr>
        <p:spPr>
          <a:xfrm>
            <a:off x="629200" y="984967"/>
            <a:ext cx="10962900" cy="10236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9pPr>
          </a:lstStyle>
          <a:p/>
        </p:txBody>
      </p:sp>
      <p:sp>
        <p:nvSpPr>
          <p:cNvPr id="93" name="Google Shape;93;g3297b211bca_0_244"/>
          <p:cNvSpPr txBox="1"/>
          <p:nvPr>
            <p:ph idx="1" type="body"/>
          </p:nvPr>
        </p:nvSpPr>
        <p:spPr>
          <a:xfrm>
            <a:off x="629200" y="2558767"/>
            <a:ext cx="5333100" cy="3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94" name="Google Shape;94;g3297b211bca_0_244"/>
          <p:cNvSpPr txBox="1"/>
          <p:nvPr>
            <p:ph idx="2" type="body"/>
          </p:nvPr>
        </p:nvSpPr>
        <p:spPr>
          <a:xfrm>
            <a:off x="6259000" y="2558767"/>
            <a:ext cx="5333100" cy="3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95" name="Google Shape;95;g3297b211bca_0_244"/>
          <p:cNvSpPr txBox="1"/>
          <p:nvPr>
            <p:ph idx="12" type="sldNum"/>
          </p:nvPr>
        </p:nvSpPr>
        <p:spPr>
          <a:xfrm>
            <a:off x="11364721" y="6260831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297b211bca_0_251"/>
          <p:cNvSpPr/>
          <p:nvPr/>
        </p:nvSpPr>
        <p:spPr>
          <a:xfrm flipH="1" rot="10800000">
            <a:off x="0" y="875100"/>
            <a:ext cx="12192000" cy="5982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g3297b211bca_0_251"/>
          <p:cNvSpPr/>
          <p:nvPr/>
        </p:nvSpPr>
        <p:spPr>
          <a:xfrm>
            <a:off x="0" y="875133"/>
            <a:ext cx="12192000" cy="1449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g3297b211bca_0_251"/>
          <p:cNvSpPr txBox="1"/>
          <p:nvPr>
            <p:ph type="title"/>
          </p:nvPr>
        </p:nvSpPr>
        <p:spPr>
          <a:xfrm>
            <a:off x="131000" y="21800"/>
            <a:ext cx="117687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0" name="Google Shape;100;g3297b211bca_0_251"/>
          <p:cNvSpPr txBox="1"/>
          <p:nvPr>
            <p:ph idx="12" type="sldNum"/>
          </p:nvPr>
        </p:nvSpPr>
        <p:spPr>
          <a:xfrm>
            <a:off x="11364721" y="6260831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297b211bca_0_256"/>
          <p:cNvSpPr txBox="1"/>
          <p:nvPr/>
        </p:nvSpPr>
        <p:spPr>
          <a:xfrm flipH="1" rot="10800000">
            <a:off x="4368800" y="33"/>
            <a:ext cx="78231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g3297b211bca_0_256"/>
          <p:cNvSpPr/>
          <p:nvPr/>
        </p:nvSpPr>
        <p:spPr>
          <a:xfrm rot="-5400000">
            <a:off x="1012250" y="3356550"/>
            <a:ext cx="6858000" cy="1449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3297b211bca_0_256"/>
          <p:cNvSpPr txBox="1"/>
          <p:nvPr>
            <p:ph type="title"/>
          </p:nvPr>
        </p:nvSpPr>
        <p:spPr>
          <a:xfrm>
            <a:off x="301437" y="477067"/>
            <a:ext cx="3744000" cy="12711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105" name="Google Shape;105;g3297b211bca_0_256"/>
          <p:cNvSpPr txBox="1"/>
          <p:nvPr>
            <p:ph idx="1" type="body"/>
          </p:nvPr>
        </p:nvSpPr>
        <p:spPr>
          <a:xfrm>
            <a:off x="301433" y="1954400"/>
            <a:ext cx="3744000" cy="42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6" name="Google Shape;106;g3297b211bca_0_256"/>
          <p:cNvSpPr txBox="1"/>
          <p:nvPr>
            <p:ph idx="12" type="sldNum"/>
          </p:nvPr>
        </p:nvSpPr>
        <p:spPr>
          <a:xfrm>
            <a:off x="11364721" y="6260831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297b211bca_0_262"/>
          <p:cNvSpPr/>
          <p:nvPr/>
        </p:nvSpPr>
        <p:spPr>
          <a:xfrm flipH="1">
            <a:off x="0" y="0"/>
            <a:ext cx="6096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g3297b211bca_0_262"/>
          <p:cNvSpPr/>
          <p:nvPr/>
        </p:nvSpPr>
        <p:spPr>
          <a:xfrm rot="5400000">
            <a:off x="2595233" y="3356900"/>
            <a:ext cx="6857100" cy="1449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g3297b211bca_0_262"/>
          <p:cNvSpPr txBox="1"/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1" name="Google Shape;111;g3297b211bca_0_262"/>
          <p:cNvSpPr txBox="1"/>
          <p:nvPr>
            <p:ph idx="1" type="subTitle"/>
          </p:nvPr>
        </p:nvSpPr>
        <p:spPr>
          <a:xfrm>
            <a:off x="354000" y="3705956"/>
            <a:ext cx="5393700" cy="16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12" name="Google Shape;112;g3297b211bca_0_262"/>
          <p:cNvSpPr txBox="1"/>
          <p:nvPr>
            <p:ph idx="2" type="body"/>
          </p:nvPr>
        </p:nvSpPr>
        <p:spPr>
          <a:xfrm>
            <a:off x="6586000" y="965600"/>
            <a:ext cx="51159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55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  <a:defRPr>
                <a:solidFill>
                  <a:schemeClr val="lt1"/>
                </a:solidFill>
              </a:defRPr>
            </a:lvl1pPr>
            <a:lvl2pPr indent="-3556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○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■"/>
              <a:defRPr>
                <a:solidFill>
                  <a:schemeClr val="lt1"/>
                </a:solidFill>
              </a:defRPr>
            </a:lvl3pPr>
            <a:lvl4pPr indent="-3556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  <a:defRPr>
                <a:solidFill>
                  <a:schemeClr val="lt1"/>
                </a:solidFill>
              </a:defRPr>
            </a:lvl4pPr>
            <a:lvl5pPr indent="-3556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○"/>
              <a:defRPr>
                <a:solidFill>
                  <a:schemeClr val="lt1"/>
                </a:solidFill>
              </a:defRPr>
            </a:lvl5pPr>
            <a:lvl6pPr indent="-3556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■"/>
              <a:defRPr>
                <a:solidFill>
                  <a:schemeClr val="lt1"/>
                </a:solidFill>
              </a:defRPr>
            </a:lvl6pPr>
            <a:lvl7pPr indent="-3556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  <a:defRPr>
                <a:solidFill>
                  <a:schemeClr val="lt1"/>
                </a:solidFill>
              </a:defRPr>
            </a:lvl7pPr>
            <a:lvl8pPr indent="-3556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○"/>
              <a:defRPr>
                <a:solidFill>
                  <a:schemeClr val="lt1"/>
                </a:solidFill>
              </a:defRPr>
            </a:lvl8pPr>
            <a:lvl9pPr indent="-3556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3" name="Google Shape;113;g3297b211bca_0_262"/>
          <p:cNvSpPr txBox="1"/>
          <p:nvPr>
            <p:ph idx="12" type="sldNum"/>
          </p:nvPr>
        </p:nvSpPr>
        <p:spPr>
          <a:xfrm>
            <a:off x="11364721" y="6260831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297b211bca_0_269"/>
          <p:cNvSpPr txBox="1"/>
          <p:nvPr/>
        </p:nvSpPr>
        <p:spPr>
          <a:xfrm flipH="1" rot="10800000">
            <a:off x="0" y="-100"/>
            <a:ext cx="12192000" cy="6261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g3297b211bca_0_269"/>
          <p:cNvSpPr/>
          <p:nvPr/>
        </p:nvSpPr>
        <p:spPr>
          <a:xfrm flipH="1" rot="10800000">
            <a:off x="0" y="6163733"/>
            <a:ext cx="12192000" cy="987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g3297b211bca_0_269"/>
          <p:cNvSpPr txBox="1"/>
          <p:nvPr>
            <p:ph idx="1" type="body"/>
          </p:nvPr>
        </p:nvSpPr>
        <p:spPr>
          <a:xfrm>
            <a:off x="76200" y="6262433"/>
            <a:ext cx="11175900" cy="59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118" name="Google Shape;118;g3297b211bca_0_269"/>
          <p:cNvSpPr txBox="1"/>
          <p:nvPr>
            <p:ph idx="12" type="sldNum"/>
          </p:nvPr>
        </p:nvSpPr>
        <p:spPr>
          <a:xfrm>
            <a:off x="11364721" y="6260831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297b211bca_0_274"/>
          <p:cNvSpPr txBox="1"/>
          <p:nvPr>
            <p:ph hasCustomPrompt="1" type="title"/>
          </p:nvPr>
        </p:nvSpPr>
        <p:spPr>
          <a:xfrm>
            <a:off x="634000" y="1678033"/>
            <a:ext cx="10962900" cy="26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0"/>
              <a:buNone/>
              <a:defRPr sz="16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0"/>
              <a:buNone/>
              <a:defRPr sz="16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0"/>
              <a:buNone/>
              <a:defRPr sz="16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0"/>
              <a:buNone/>
              <a:defRPr sz="16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0"/>
              <a:buNone/>
              <a:defRPr sz="16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0"/>
              <a:buNone/>
              <a:defRPr sz="16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0"/>
              <a:buNone/>
              <a:defRPr sz="16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0"/>
              <a:buNone/>
              <a:defRPr sz="16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0"/>
              <a:buNone/>
              <a:defRPr sz="16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1" name="Google Shape;121;g3297b211bca_0_274"/>
          <p:cNvSpPr txBox="1"/>
          <p:nvPr>
            <p:ph idx="1" type="body"/>
          </p:nvPr>
        </p:nvSpPr>
        <p:spPr>
          <a:xfrm>
            <a:off x="634000" y="4406167"/>
            <a:ext cx="10962900" cy="1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556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1pPr>
            <a:lvl2pPr indent="-3556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2pPr>
            <a:lvl3pPr indent="-3556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3pPr>
            <a:lvl4pPr indent="-3556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4pPr>
            <a:lvl5pPr indent="-3556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5pPr>
            <a:lvl6pPr indent="-3556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6pPr>
            <a:lvl7pPr indent="-3556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7pPr>
            <a:lvl8pPr indent="-3556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8pPr>
            <a:lvl9pPr indent="-3556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9pPr>
          </a:lstStyle>
          <a:p/>
        </p:txBody>
      </p:sp>
      <p:sp>
        <p:nvSpPr>
          <p:cNvPr id="122" name="Google Shape;122;g3297b211bca_0_274"/>
          <p:cNvSpPr txBox="1"/>
          <p:nvPr>
            <p:ph idx="12" type="sldNum"/>
          </p:nvPr>
        </p:nvSpPr>
        <p:spPr>
          <a:xfrm>
            <a:off x="11364721" y="6260831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000000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297b211bca_0_278"/>
          <p:cNvSpPr txBox="1"/>
          <p:nvPr>
            <p:ph idx="12" type="sldNum"/>
          </p:nvPr>
        </p:nvSpPr>
        <p:spPr>
          <a:xfrm>
            <a:off x="11364721" y="6260831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4" name="Google Shape;134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4" name="Google Shape;144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150" name="Google Shape;150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6" name="Google Shape;156;p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7" name="Google Shape;157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1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63" name="Google Shape;163;p1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4" name="Google Shape;164;p1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65" name="Google Shape;165;p1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6" name="Google Shape;166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1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77" name="Google Shape;177;p1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78" name="Google Shape;178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1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84" name="Google Shape;184;p1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85" name="Google Shape;185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1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1" name="Google Shape;191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1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7" name="Google Shape;197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4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4.xml"/><Relationship Id="rId12" Type="http://schemas.openxmlformats.org/officeDocument/2006/relationships/theme" Target="../theme/theme2.xml"/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11fd835375_0_85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g311fd835375_0_85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●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92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92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92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92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92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92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92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92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g311fd835375_0_8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297b211bca_0_215"/>
          <p:cNvSpPr txBox="1"/>
          <p:nvPr>
            <p:ph type="title"/>
          </p:nvPr>
        </p:nvSpPr>
        <p:spPr>
          <a:xfrm>
            <a:off x="629200" y="984967"/>
            <a:ext cx="10962900" cy="10236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Roboto"/>
              <a:buNone/>
              <a:defRPr b="0" i="0" sz="4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Roboto"/>
              <a:buNone/>
              <a:defRPr b="0" i="0" sz="4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Roboto"/>
              <a:buNone/>
              <a:defRPr b="0" i="0" sz="4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Roboto"/>
              <a:buNone/>
              <a:defRPr b="0" i="0" sz="4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Roboto"/>
              <a:buNone/>
              <a:defRPr b="0" i="0" sz="4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Roboto"/>
              <a:buNone/>
              <a:defRPr b="0" i="0" sz="4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Roboto"/>
              <a:buNone/>
              <a:defRPr b="0" i="0" sz="4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Roboto"/>
              <a:buNone/>
              <a:defRPr b="0" i="0" sz="4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Roboto"/>
              <a:buNone/>
              <a:defRPr b="0" i="0" sz="4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2" name="Google Shape;62;g3297b211bca_0_215"/>
          <p:cNvSpPr txBox="1"/>
          <p:nvPr>
            <p:ph idx="1" type="body"/>
          </p:nvPr>
        </p:nvSpPr>
        <p:spPr>
          <a:xfrm>
            <a:off x="629200" y="2558767"/>
            <a:ext cx="10962900" cy="3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○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■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○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■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○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■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3" name="Google Shape;63;g3297b211bca_0_215"/>
          <p:cNvSpPr txBox="1"/>
          <p:nvPr>
            <p:ph idx="12" type="sldNum"/>
          </p:nvPr>
        </p:nvSpPr>
        <p:spPr>
          <a:xfrm>
            <a:off x="11364721" y="6260831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4" name="Google Shape;64;g3297b211bca_0_21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0689000" y="0"/>
            <a:ext cx="1503001" cy="150300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7" name="Google Shape;127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8" name="Google Shape;128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9" name="Google Shape;129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0" name="Google Shape;130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0.jpg"/><Relationship Id="rId5" Type="http://schemas.openxmlformats.org/officeDocument/2006/relationships/image" Target="../media/image7.jpg"/><Relationship Id="rId6" Type="http://schemas.openxmlformats.org/officeDocument/2006/relationships/image" Target="../media/image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17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unity.com/download" TargetMode="External"/><Relationship Id="rId4" Type="http://schemas.openxmlformats.org/officeDocument/2006/relationships/image" Target="../media/image1.png"/><Relationship Id="rId5" Type="http://schemas.openxmlformats.org/officeDocument/2006/relationships/image" Target="../media/image9.png"/><Relationship Id="rId6" Type="http://schemas.openxmlformats.org/officeDocument/2006/relationships/image" Target="../media/image16.png"/><Relationship Id="rId7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1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4.png"/><Relationship Id="rId8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d5b2b5e3c8_0_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g2d5b2b5e3c8_0_0"/>
          <p:cNvSpPr/>
          <p:nvPr/>
        </p:nvSpPr>
        <p:spPr>
          <a:xfrm>
            <a:off x="0" y="0"/>
            <a:ext cx="4959047" cy="6858000"/>
          </a:xfrm>
          <a:custGeom>
            <a:rect b="b" l="l" r="r" t="t"/>
            <a:pathLst>
              <a:path extrusionOk="0" h="6858000" w="4959047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 cap="flat" cmpd="sng" w="9525">
            <a:solidFill>
              <a:srgbClr val="D9E5F8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l" dist="38100">
              <a:srgbClr val="D8D8D8">
                <a:alpha val="2823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g2d5b2b5e3c8_0_0"/>
          <p:cNvSpPr/>
          <p:nvPr/>
        </p:nvSpPr>
        <p:spPr>
          <a:xfrm>
            <a:off x="0" y="0"/>
            <a:ext cx="4948887" cy="6858000"/>
          </a:xfrm>
          <a:custGeom>
            <a:rect b="b" l="l" r="r" t="t"/>
            <a:pathLst>
              <a:path extrusionOk="0" h="6858000" w="4948887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g2d5b2b5e3c8_0_0"/>
          <p:cNvSpPr txBox="1"/>
          <p:nvPr>
            <p:ph type="ctrTitle"/>
          </p:nvPr>
        </p:nvSpPr>
        <p:spPr>
          <a:xfrm>
            <a:off x="462788" y="527827"/>
            <a:ext cx="4023300" cy="3828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9089"/>
              <a:buFont typeface="Play"/>
              <a:buNone/>
            </a:pPr>
            <a:r>
              <a:rPr lang="en-US" sz="4400">
                <a:latin typeface="Calibri"/>
                <a:ea typeface="Calibri"/>
                <a:cs typeface="Calibri"/>
                <a:sym typeface="Calibri"/>
              </a:rPr>
              <a:t>Welcome to Code Crunch!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9089"/>
              <a:buFont typeface="Play"/>
              <a:buNone/>
            </a:pPr>
            <a:r>
              <a:t/>
            </a:r>
            <a:endParaRPr sz="4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3384"/>
              <a:buFont typeface="Play"/>
              <a:buNone/>
            </a:pPr>
            <a:r>
              <a:rPr lang="en-US" sz="4233">
                <a:latin typeface="Calibri"/>
                <a:ea typeface="Calibri"/>
                <a:cs typeface="Calibri"/>
                <a:sym typeface="Calibri"/>
              </a:rPr>
              <a:t>C11 </a:t>
            </a:r>
            <a:r>
              <a:rPr lang="en-US" sz="4233">
                <a:latin typeface="Calibri"/>
                <a:ea typeface="Calibri"/>
                <a:cs typeface="Calibri"/>
                <a:sym typeface="Calibri"/>
              </a:rPr>
              <a:t>|</a:t>
            </a:r>
            <a:r>
              <a:rPr lang="en-US" sz="4233">
                <a:latin typeface="Calibri"/>
                <a:ea typeface="Calibri"/>
                <a:cs typeface="Calibri"/>
                <a:sym typeface="Calibri"/>
              </a:rPr>
              <a:t> CRUNCH ARCADE </a:t>
            </a:r>
            <a:endParaRPr sz="4233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29785"/>
              <a:buFont typeface="Play"/>
              <a:buNone/>
            </a:pPr>
            <a:br>
              <a:rPr lang="en-US" sz="2088">
                <a:latin typeface="Calibri"/>
                <a:ea typeface="Calibri"/>
                <a:cs typeface="Calibri"/>
                <a:sym typeface="Calibri"/>
              </a:rPr>
            </a:br>
            <a:r>
              <a:rPr lang="en-US" sz="2088">
                <a:latin typeface="Calibri"/>
                <a:ea typeface="Calibri"/>
                <a:cs typeface="Calibri"/>
                <a:sym typeface="Calibri"/>
              </a:rPr>
              <a:t>[Tuesdays  3-4 PM]/[Wednesdays  10-11 AM] Weekly | Spring 2025</a:t>
            </a:r>
            <a:endParaRPr sz="2488"/>
          </a:p>
        </p:txBody>
      </p:sp>
      <p:sp>
        <p:nvSpPr>
          <p:cNvPr id="208" name="Google Shape;208;g2d5b2b5e3c8_0_0"/>
          <p:cNvSpPr/>
          <p:nvPr/>
        </p:nvSpPr>
        <p:spPr>
          <a:xfrm>
            <a:off x="481029" y="4546920"/>
            <a:ext cx="4023300" cy="183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g2d5b2b5e3c8_0_0"/>
          <p:cNvSpPr txBox="1"/>
          <p:nvPr/>
        </p:nvSpPr>
        <p:spPr>
          <a:xfrm>
            <a:off x="987333" y="6257233"/>
            <a:ext cx="31227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linktr.ee/CODE.CRUNCH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g2d5b2b5e3c8_0_0"/>
          <p:cNvSpPr txBox="1"/>
          <p:nvPr/>
        </p:nvSpPr>
        <p:spPr>
          <a:xfrm>
            <a:off x="380333" y="5155533"/>
            <a:ext cx="20709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32500"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8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Attendance</a:t>
            </a:r>
            <a:r>
              <a:rPr b="1" i="0" lang="en-US" sz="5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i="0" sz="5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1" name="Google Shape;211;g2d5b2b5e3c8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1133" y="6149367"/>
            <a:ext cx="489600" cy="4896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212" name="Google Shape;212;g2d5b2b5e3c8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17332" y="4687900"/>
            <a:ext cx="1461966" cy="1446766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g2d5b2b5e3c8_0_0"/>
          <p:cNvSpPr/>
          <p:nvPr/>
        </p:nvSpPr>
        <p:spPr>
          <a:xfrm>
            <a:off x="5390033" y="0"/>
            <a:ext cx="7233300" cy="68580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g2d5b2b5e3c8_0_0"/>
          <p:cNvSpPr/>
          <p:nvPr/>
        </p:nvSpPr>
        <p:spPr>
          <a:xfrm rot="10800000">
            <a:off x="4059000" y="0"/>
            <a:ext cx="3346600" cy="6858000"/>
          </a:xfrm>
          <a:prstGeom prst="flowChartOnlineStorag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5" name="Google Shape;215;g2d5b2b5e3c8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85767" y="0"/>
            <a:ext cx="6858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297b211bca_0_210"/>
          <p:cNvSpPr txBox="1"/>
          <p:nvPr>
            <p:ph type="ctrTitle"/>
          </p:nvPr>
        </p:nvSpPr>
        <p:spPr>
          <a:xfrm>
            <a:off x="694267" y="3234267"/>
            <a:ext cx="14617200" cy="16596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</a:pPr>
            <a:r>
              <a:rPr lang="en-US"/>
              <a:t>Unit #1</a:t>
            </a:r>
            <a:endParaRPr/>
          </a:p>
        </p:txBody>
      </p:sp>
      <p:sp>
        <p:nvSpPr>
          <p:cNvPr id="221" name="Google Shape;221;g3297b211bca_0_210"/>
          <p:cNvSpPr txBox="1"/>
          <p:nvPr>
            <p:ph idx="1" type="subTitle"/>
          </p:nvPr>
        </p:nvSpPr>
        <p:spPr>
          <a:xfrm>
            <a:off x="694275" y="4893875"/>
            <a:ext cx="11079300" cy="16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2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/>
              <a:t>C[11] | [ CRUNCH ARCADE ]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8108"/>
              <a:buNone/>
            </a:pPr>
            <a:r>
              <a:rPr lang="en-US"/>
              <a:t>Introduction to Crunch Arcade and Unity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2d5b2b5e3c8_0_66"/>
          <p:cNvSpPr/>
          <p:nvPr/>
        </p:nvSpPr>
        <p:spPr>
          <a:xfrm>
            <a:off x="0" y="0"/>
            <a:ext cx="121893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g2d5b2b5e3c8_0_66"/>
          <p:cNvSpPr txBox="1"/>
          <p:nvPr>
            <p:ph type="title"/>
          </p:nvPr>
        </p:nvSpPr>
        <p:spPr>
          <a:xfrm>
            <a:off x="572493" y="238539"/>
            <a:ext cx="11018400" cy="1434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Play"/>
              <a:buNone/>
            </a:pPr>
            <a:r>
              <a:rPr lang="en-US" sz="5500"/>
              <a:t>Welcome to Code Crunch!</a:t>
            </a:r>
            <a:endParaRPr/>
          </a:p>
        </p:txBody>
      </p:sp>
      <p:sp>
        <p:nvSpPr>
          <p:cNvPr id="228" name="Google Shape;228;g2d5b2b5e3c8_0_66"/>
          <p:cNvSpPr/>
          <p:nvPr/>
        </p:nvSpPr>
        <p:spPr>
          <a:xfrm>
            <a:off x="572493" y="1681544"/>
            <a:ext cx="10972800" cy="18288"/>
          </a:xfrm>
          <a:custGeom>
            <a:rect b="b" l="l" r="r" t="t"/>
            <a:pathLst>
              <a:path extrusionOk="0" fill="none" h="18288" w="1097280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extrusionOk="0" h="18288" w="1097280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3333"/>
            </a:schemeClr>
          </a:solidFill>
          <a:ln cap="rnd" cmpd="sng" w="44450">
            <a:solidFill>
              <a:schemeClr val="accent2">
                <a:alpha val="73333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g2d5b2b5e3c8_0_66"/>
          <p:cNvSpPr txBox="1"/>
          <p:nvPr>
            <p:ph idx="1" type="body"/>
          </p:nvPr>
        </p:nvSpPr>
        <p:spPr>
          <a:xfrm>
            <a:off x="572500" y="2071300"/>
            <a:ext cx="10922400" cy="41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2400"/>
              <a:t>Code Crunch</a:t>
            </a:r>
            <a:r>
              <a:rPr lang="en-US" sz="2400"/>
              <a:t> is your go-to platform for </a:t>
            </a:r>
            <a:r>
              <a:rPr b="1" lang="en-US" sz="2400"/>
              <a:t>collaboration</a:t>
            </a:r>
            <a:r>
              <a:rPr lang="en-US" sz="2400"/>
              <a:t>, </a:t>
            </a:r>
            <a:r>
              <a:rPr b="1" lang="en-US" sz="2400"/>
              <a:t>networking</a:t>
            </a:r>
            <a:r>
              <a:rPr lang="en-US" sz="2400"/>
              <a:t>, and </a:t>
            </a:r>
            <a:r>
              <a:rPr b="1" lang="en-US" sz="2400"/>
              <a:t>hands-on projects</a:t>
            </a:r>
            <a:r>
              <a:rPr lang="en-US" sz="2400"/>
              <a:t>. We welcome freshmen, graduates, and alumni from </a:t>
            </a:r>
            <a:r>
              <a:rPr b="1" lang="en-US" sz="2400"/>
              <a:t>any university</a:t>
            </a:r>
            <a:r>
              <a:rPr lang="en-US" sz="2400"/>
              <a:t>, regardless of </a:t>
            </a:r>
            <a:r>
              <a:rPr b="1" lang="en-US" sz="2400"/>
              <a:t>major </a:t>
            </a:r>
            <a:r>
              <a:rPr lang="en-US" sz="2400"/>
              <a:t>or</a:t>
            </a:r>
            <a:r>
              <a:rPr b="1" lang="en-US" sz="2400"/>
              <a:t> experience level</a:t>
            </a:r>
            <a:r>
              <a:rPr lang="en-US" sz="2400"/>
              <a:t>.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﻿Join us </a:t>
            </a:r>
            <a:r>
              <a:rPr b="1" lang="en-US" sz="2400"/>
              <a:t>virtually via Zoom</a:t>
            </a:r>
            <a:r>
              <a:rPr lang="en-US" sz="2400"/>
              <a:t> or </a:t>
            </a:r>
            <a:r>
              <a:rPr b="1" lang="en-US" sz="2400"/>
              <a:t>in-person at Florida International University</a:t>
            </a:r>
            <a:r>
              <a:rPr lang="en-US" sz="2400"/>
              <a:t>. Together, we'll break down barriers in technology, learn through immersive </a:t>
            </a:r>
            <a:r>
              <a:rPr b="1" lang="en-US" sz="2400"/>
              <a:t>workshops</a:t>
            </a:r>
            <a:r>
              <a:rPr lang="en-US" sz="2400"/>
              <a:t>, and build </a:t>
            </a:r>
            <a:r>
              <a:rPr b="1" lang="en-US" sz="2400"/>
              <a:t>innovative solutions</a:t>
            </a:r>
            <a:r>
              <a:rPr lang="en-US" sz="2400"/>
              <a:t>.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2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/>
          </a:p>
          <a:p>
            <a:pPr indent="0" lvl="0" marL="45720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rPr lang="en-US"/>
              <a:t> </a:t>
            </a:r>
            <a:endParaRPr/>
          </a:p>
        </p:txBody>
      </p:sp>
      <p:pic>
        <p:nvPicPr>
          <p:cNvPr id="230" name="Google Shape;230;g2d5b2b5e3c8_0_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73375" y="0"/>
            <a:ext cx="2015925" cy="201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2b704b8690_1_2"/>
          <p:cNvSpPr/>
          <p:nvPr/>
        </p:nvSpPr>
        <p:spPr>
          <a:xfrm>
            <a:off x="0" y="0"/>
            <a:ext cx="121893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g32b704b8690_1_2"/>
          <p:cNvSpPr txBox="1"/>
          <p:nvPr>
            <p:ph type="title"/>
          </p:nvPr>
        </p:nvSpPr>
        <p:spPr>
          <a:xfrm>
            <a:off x="572493" y="238539"/>
            <a:ext cx="11018400" cy="1434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Play"/>
              <a:buNone/>
            </a:pPr>
            <a:r>
              <a:rPr lang="en-US" sz="5500"/>
              <a:t>Our Mission &amp; Vision</a:t>
            </a:r>
            <a:endParaRPr sz="5500"/>
          </a:p>
        </p:txBody>
      </p:sp>
      <p:sp>
        <p:nvSpPr>
          <p:cNvPr id="237" name="Google Shape;237;g32b704b8690_1_2"/>
          <p:cNvSpPr/>
          <p:nvPr/>
        </p:nvSpPr>
        <p:spPr>
          <a:xfrm>
            <a:off x="572493" y="1681544"/>
            <a:ext cx="10972800" cy="18288"/>
          </a:xfrm>
          <a:custGeom>
            <a:rect b="b" l="l" r="r" t="t"/>
            <a:pathLst>
              <a:path extrusionOk="0" fill="none" h="18288" w="1097280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extrusionOk="0" h="18288" w="1097280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3725"/>
            </a:schemeClr>
          </a:solidFill>
          <a:ln cap="rnd" cmpd="sng" w="44450">
            <a:solidFill>
              <a:schemeClr val="accent2">
                <a:alpha val="73725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g32b704b8690_1_2"/>
          <p:cNvSpPr txBox="1"/>
          <p:nvPr>
            <p:ph idx="1" type="body"/>
          </p:nvPr>
        </p:nvSpPr>
        <p:spPr>
          <a:xfrm>
            <a:off x="572500" y="2071300"/>
            <a:ext cx="10922400" cy="41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/>
              <a:t>Mission:</a:t>
            </a:r>
            <a:endParaRPr b="1" sz="2000"/>
          </a:p>
          <a:p>
            <a:pPr indent="-355600" lvl="0" marL="457200" rtl="0" algn="l">
              <a:lnSpc>
                <a:spcPct val="105000"/>
              </a:lnSpc>
              <a:spcBef>
                <a:spcPts val="11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Our </a:t>
            </a:r>
            <a:r>
              <a:rPr b="1" lang="en-US" sz="2000"/>
              <a:t>mission</a:t>
            </a:r>
            <a:r>
              <a:rPr lang="en-US" sz="2000"/>
              <a:t> is to </a:t>
            </a:r>
            <a:r>
              <a:rPr b="1" lang="en-US" sz="2000"/>
              <a:t>equip students</a:t>
            </a:r>
            <a:r>
              <a:rPr lang="en-US" sz="2000"/>
              <a:t> with the </a:t>
            </a:r>
            <a:r>
              <a:rPr b="1" lang="en-US" sz="2000"/>
              <a:t>technical skills</a:t>
            </a:r>
            <a:r>
              <a:rPr lang="en-US" sz="2000"/>
              <a:t> and </a:t>
            </a:r>
            <a:r>
              <a:rPr b="1" lang="en-US" sz="2000"/>
              <a:t>professional connections</a:t>
            </a:r>
            <a:r>
              <a:rPr lang="en-US" sz="2000"/>
              <a:t> needed to excel in </a:t>
            </a:r>
            <a:r>
              <a:rPr b="1" lang="en-US" sz="2000"/>
              <a:t>coding interviews</a:t>
            </a:r>
            <a:r>
              <a:rPr lang="en-US" sz="2000"/>
              <a:t> and beyond. We provide a platform where students can </a:t>
            </a:r>
            <a:r>
              <a:rPr b="1" lang="en-US" sz="2000"/>
              <a:t>collaborate</a:t>
            </a:r>
            <a:r>
              <a:rPr lang="en-US" sz="2000"/>
              <a:t>, </a:t>
            </a:r>
            <a:r>
              <a:rPr b="1" lang="en-US" sz="2000"/>
              <a:t>learn</a:t>
            </a:r>
            <a:r>
              <a:rPr lang="en-US" sz="2000"/>
              <a:t>, and </a:t>
            </a:r>
            <a:r>
              <a:rPr b="1" lang="en-US" sz="2000"/>
              <a:t>grow professionally</a:t>
            </a:r>
            <a:r>
              <a:rPr lang="en-US" sz="2000"/>
              <a:t> while emphasizing the importance of </a:t>
            </a:r>
            <a:r>
              <a:rPr b="1" lang="en-US" sz="2000"/>
              <a:t>diversity</a:t>
            </a:r>
            <a:r>
              <a:rPr lang="en-US" sz="2000"/>
              <a:t> and </a:t>
            </a:r>
            <a:r>
              <a:rPr b="1" lang="en-US" sz="2000"/>
              <a:t>inclusion</a:t>
            </a:r>
            <a:r>
              <a:rPr lang="en-US" sz="2000"/>
              <a:t> in the tech industry vision.</a:t>
            </a:r>
            <a:endParaRPr sz="2000"/>
          </a:p>
          <a:p>
            <a:pPr indent="0" lvl="0" marL="0" rtl="0" algn="l">
              <a:lnSpc>
                <a:spcPct val="105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/>
          </a:p>
          <a:p>
            <a:pPr indent="-355600" lvl="0" marL="457200" rtl="0" algn="l">
              <a:lnSpc>
                <a:spcPct val="105000"/>
              </a:lnSpc>
              <a:spcBef>
                <a:spcPts val="11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We strive to bridge the gap between </a:t>
            </a:r>
            <a:r>
              <a:rPr b="1" lang="en-US" sz="2000"/>
              <a:t>academia </a:t>
            </a:r>
            <a:r>
              <a:rPr lang="en-US" sz="2000"/>
              <a:t>and the </a:t>
            </a:r>
            <a:r>
              <a:rPr b="1" lang="en-US" sz="2000"/>
              <a:t>tech industry</a:t>
            </a:r>
            <a:r>
              <a:rPr lang="en-US" sz="2000"/>
              <a:t> by offering </a:t>
            </a:r>
            <a:r>
              <a:rPr b="1" lang="en-US" sz="2000"/>
              <a:t>hands-on workshops</a:t>
            </a:r>
            <a:r>
              <a:rPr lang="en-US" sz="2000"/>
              <a:t>, </a:t>
            </a:r>
            <a:r>
              <a:rPr b="1" lang="en-US" sz="2000"/>
              <a:t>technical interview preparation</a:t>
            </a:r>
            <a:r>
              <a:rPr lang="en-US" sz="2000"/>
              <a:t>, </a:t>
            </a:r>
            <a:r>
              <a:rPr b="1" lang="en-US" sz="2000"/>
              <a:t>hackathons</a:t>
            </a:r>
            <a:r>
              <a:rPr lang="en-US" sz="2000"/>
              <a:t>, and </a:t>
            </a:r>
            <a:r>
              <a:rPr b="1" lang="en-US" sz="2000"/>
              <a:t>networking opportunities</a:t>
            </a:r>
            <a:r>
              <a:rPr lang="en-US" sz="2000"/>
              <a:t> with experts from </a:t>
            </a:r>
            <a:r>
              <a:rPr b="1" lang="en-US" sz="2000"/>
              <a:t>leading companies</a:t>
            </a:r>
            <a:r>
              <a:rPr lang="en-US" sz="2000"/>
              <a:t>. Our </a:t>
            </a:r>
            <a:r>
              <a:rPr b="1" lang="en-US" sz="2000"/>
              <a:t>vision </a:t>
            </a:r>
            <a:r>
              <a:rPr lang="en-US" sz="2000"/>
              <a:t>is to empower students from all backgrounds to achieve their </a:t>
            </a:r>
            <a:r>
              <a:rPr b="1" lang="en-US" sz="2000"/>
              <a:t>full potential</a:t>
            </a:r>
            <a:r>
              <a:rPr lang="en-US" sz="2000"/>
              <a:t>, </a:t>
            </a:r>
            <a:r>
              <a:rPr b="1" lang="en-US" sz="2000"/>
              <a:t>foster </a:t>
            </a:r>
            <a:r>
              <a:rPr lang="en-US" sz="2000"/>
              <a:t>an </a:t>
            </a:r>
            <a:r>
              <a:rPr b="1" lang="en-US" sz="2000"/>
              <a:t>inclusive tech community</a:t>
            </a:r>
            <a:r>
              <a:rPr lang="en-US" sz="2000"/>
              <a:t>, and build a strong, supportive alumni network. By covering a wide range of technical areas, we aim to prepare students for success in a variety of tech careers.</a:t>
            </a:r>
            <a:endParaRPr sz="2000"/>
          </a:p>
          <a:p>
            <a:pPr indent="0" lvl="0" marL="457200" rtl="0" algn="l">
              <a:lnSpc>
                <a:spcPct val="105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2000"/>
          </a:p>
        </p:txBody>
      </p:sp>
      <p:pic>
        <p:nvPicPr>
          <p:cNvPr id="239" name="Google Shape;239;g32b704b8690_1_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73375" y="0"/>
            <a:ext cx="2015925" cy="201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2b704b8690_1_10"/>
          <p:cNvSpPr/>
          <p:nvPr/>
        </p:nvSpPr>
        <p:spPr>
          <a:xfrm>
            <a:off x="0" y="0"/>
            <a:ext cx="121893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g32b704b8690_1_10"/>
          <p:cNvSpPr txBox="1"/>
          <p:nvPr>
            <p:ph type="title"/>
          </p:nvPr>
        </p:nvSpPr>
        <p:spPr>
          <a:xfrm>
            <a:off x="572493" y="238539"/>
            <a:ext cx="11018400" cy="1434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Play"/>
              <a:buNone/>
            </a:pPr>
            <a:r>
              <a:rPr lang="en-US" sz="5500"/>
              <a:t>What We Offer</a:t>
            </a:r>
            <a:endParaRPr/>
          </a:p>
        </p:txBody>
      </p:sp>
      <p:sp>
        <p:nvSpPr>
          <p:cNvPr id="246" name="Google Shape;246;g32b704b8690_1_10"/>
          <p:cNvSpPr/>
          <p:nvPr/>
        </p:nvSpPr>
        <p:spPr>
          <a:xfrm>
            <a:off x="572493" y="1681544"/>
            <a:ext cx="10972800" cy="18288"/>
          </a:xfrm>
          <a:custGeom>
            <a:rect b="b" l="l" r="r" t="t"/>
            <a:pathLst>
              <a:path extrusionOk="0" fill="none" h="18288" w="1097280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extrusionOk="0" h="18288" w="1097280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3725"/>
            </a:schemeClr>
          </a:solidFill>
          <a:ln cap="rnd" cmpd="sng" w="44450">
            <a:solidFill>
              <a:schemeClr val="accent2">
                <a:alpha val="73725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g32b704b8690_1_10"/>
          <p:cNvSpPr txBox="1"/>
          <p:nvPr>
            <p:ph idx="1" type="body"/>
          </p:nvPr>
        </p:nvSpPr>
        <p:spPr>
          <a:xfrm>
            <a:off x="597700" y="2081425"/>
            <a:ext cx="10922400" cy="41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ct val="45833"/>
              <a:buNone/>
            </a:pPr>
            <a:r>
              <a:rPr lang="en-US" sz="2400"/>
              <a:t>• </a:t>
            </a:r>
            <a:r>
              <a:rPr b="1" lang="en-US" sz="2400"/>
              <a:t>Hands-On Workshops:</a:t>
            </a:r>
            <a:r>
              <a:rPr lang="en-US" sz="2400"/>
              <a:t> Topics include Python, JavaScript, React, and more.</a:t>
            </a:r>
            <a:endParaRPr sz="2400"/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ct val="45833"/>
              <a:buNone/>
            </a:pPr>
            <a:r>
              <a:rPr lang="en-US" sz="2400"/>
              <a:t> </a:t>
            </a:r>
            <a:endParaRPr sz="2400"/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ct val="45833"/>
              <a:buNone/>
            </a:pPr>
            <a:r>
              <a:rPr lang="en-US" sz="2400"/>
              <a:t>• </a:t>
            </a:r>
            <a:r>
              <a:rPr b="1" lang="en-US" sz="2400"/>
              <a:t>LeetCode Prep:</a:t>
            </a:r>
            <a:r>
              <a:rPr lang="en-US" sz="2400"/>
              <a:t> Weekly sessions to master technical interviews. </a:t>
            </a:r>
            <a:endParaRPr sz="2400"/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ct val="45833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ct val="45833"/>
              <a:buNone/>
            </a:pPr>
            <a:r>
              <a:rPr lang="en-US" sz="2400"/>
              <a:t>• </a:t>
            </a:r>
            <a:r>
              <a:rPr b="1" lang="en-US" sz="2400"/>
              <a:t>Hackathons: </a:t>
            </a:r>
            <a:r>
              <a:rPr lang="en-US" sz="2400"/>
              <a:t>Collaborate on innovative projects in a competitive setting.</a:t>
            </a:r>
            <a:endParaRPr sz="2400"/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ct val="45833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ct val="45833"/>
              <a:buNone/>
            </a:pPr>
            <a:r>
              <a:rPr lang="en-US" sz="2400"/>
              <a:t>• </a:t>
            </a:r>
            <a:r>
              <a:rPr b="1" lang="en-US" sz="2400"/>
              <a:t>Panel Discussions:</a:t>
            </a:r>
            <a:r>
              <a:rPr lang="en-US" sz="2400"/>
              <a:t> Industry leaders from tech giants and startups share insights.</a:t>
            </a:r>
            <a:endParaRPr sz="2400"/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ct val="45833"/>
              <a:buNone/>
            </a:pPr>
            <a:r>
              <a:rPr lang="en-US" sz="2400"/>
              <a:t> </a:t>
            </a:r>
            <a:endParaRPr sz="2400"/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ct val="45833"/>
              <a:buNone/>
            </a:pPr>
            <a:r>
              <a:rPr lang="en-US" sz="2400"/>
              <a:t>• </a:t>
            </a:r>
            <a:r>
              <a:rPr b="1" lang="en-US" sz="2400"/>
              <a:t>Global Access:</a:t>
            </a:r>
            <a:r>
              <a:rPr lang="en-US" sz="2400"/>
              <a:t> Code Crunch Global launches in October for worldwide participation!</a:t>
            </a:r>
            <a:endParaRPr sz="2400"/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ct val="75000"/>
              <a:buNone/>
            </a:pPr>
            <a:r>
              <a:t/>
            </a:r>
            <a:endParaRPr b="1" sz="2400"/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ct val="75000"/>
              <a:buNone/>
            </a:pPr>
            <a:r>
              <a:t/>
            </a:r>
            <a:endParaRPr sz="2400"/>
          </a:p>
          <a:p>
            <a:pPr indent="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ct val="64285"/>
              <a:buNone/>
            </a:pPr>
            <a:r>
              <a:rPr lang="en-US"/>
              <a:t> </a:t>
            </a:r>
            <a:endParaRPr/>
          </a:p>
        </p:txBody>
      </p:sp>
      <p:pic>
        <p:nvPicPr>
          <p:cNvPr id="248" name="Google Shape;248;g32b704b8690_1_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73375" y="0"/>
            <a:ext cx="2015925" cy="201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2b704b8690_1_19"/>
          <p:cNvSpPr/>
          <p:nvPr/>
        </p:nvSpPr>
        <p:spPr>
          <a:xfrm>
            <a:off x="-35750" y="0"/>
            <a:ext cx="121893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g32b704b8690_1_19"/>
          <p:cNvSpPr txBox="1"/>
          <p:nvPr>
            <p:ph type="title"/>
          </p:nvPr>
        </p:nvSpPr>
        <p:spPr>
          <a:xfrm>
            <a:off x="572493" y="238539"/>
            <a:ext cx="11018400" cy="1434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Play"/>
              <a:buNone/>
            </a:pPr>
            <a:r>
              <a:rPr lang="en-US" sz="5500"/>
              <a:t>Meet the E-Board </a:t>
            </a:r>
            <a:endParaRPr/>
          </a:p>
        </p:txBody>
      </p:sp>
      <p:sp>
        <p:nvSpPr>
          <p:cNvPr id="255" name="Google Shape;255;g32b704b8690_1_19"/>
          <p:cNvSpPr/>
          <p:nvPr/>
        </p:nvSpPr>
        <p:spPr>
          <a:xfrm>
            <a:off x="572493" y="1681544"/>
            <a:ext cx="10972800" cy="18288"/>
          </a:xfrm>
          <a:custGeom>
            <a:rect b="b" l="l" r="r" t="t"/>
            <a:pathLst>
              <a:path extrusionOk="0" fill="none" h="18288" w="1097280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extrusionOk="0" h="18288" w="1097280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3725"/>
            </a:schemeClr>
          </a:solidFill>
          <a:ln cap="rnd" cmpd="sng" w="44450">
            <a:solidFill>
              <a:schemeClr val="accent2">
                <a:alpha val="73725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g32b704b8690_1_19"/>
          <p:cNvSpPr txBox="1"/>
          <p:nvPr>
            <p:ph idx="1" type="body"/>
          </p:nvPr>
        </p:nvSpPr>
        <p:spPr>
          <a:xfrm>
            <a:off x="572500" y="2071300"/>
            <a:ext cx="5818800" cy="22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400"/>
              <a:t>● President: </a:t>
            </a:r>
            <a:r>
              <a:rPr lang="en-US" sz="2400"/>
              <a:t>Brian Bazurto 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400"/>
              <a:t>● Vice President: </a:t>
            </a:r>
            <a:r>
              <a:rPr lang="en-US" sz="2400"/>
              <a:t>Amilcar Pena 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400"/>
              <a:t>● Treasurer: </a:t>
            </a:r>
            <a:r>
              <a:rPr lang="en-US" sz="2400"/>
              <a:t>Bryan Garcia 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400"/>
              <a:t>● Marketing/Logistics:</a:t>
            </a:r>
            <a:r>
              <a:rPr lang="en-US" sz="2400"/>
              <a:t> Mariana Phelan </a:t>
            </a:r>
            <a:r>
              <a:rPr lang="en-US"/>
              <a:t> </a:t>
            </a:r>
            <a:endParaRPr/>
          </a:p>
        </p:txBody>
      </p:sp>
      <p:pic>
        <p:nvPicPr>
          <p:cNvPr id="257" name="Google Shape;257;g32b704b8690_1_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73375" y="0"/>
            <a:ext cx="2015925" cy="201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g32b704b8690_1_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29975" y="2015929"/>
            <a:ext cx="5538075" cy="432409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259" name="Google Shape;259;g32b704b8690_1_19"/>
          <p:cNvPicPr preferRelativeResize="0"/>
          <p:nvPr/>
        </p:nvPicPr>
        <p:blipFill rotWithShape="1">
          <a:blip r:embed="rId5">
            <a:alphaModFix/>
          </a:blip>
          <a:srcRect b="11761" l="9072" r="18854" t="0"/>
          <a:stretch/>
        </p:blipFill>
        <p:spPr>
          <a:xfrm>
            <a:off x="9773425" y="5253375"/>
            <a:ext cx="899700" cy="8811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60" name="Google Shape;260;g32b704b8690_1_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69025" y="5253250"/>
            <a:ext cx="899700" cy="843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261" name="Google Shape;261;g32b704b8690_1_19"/>
          <p:cNvSpPr txBox="1"/>
          <p:nvPr>
            <p:ph idx="1" type="body"/>
          </p:nvPr>
        </p:nvSpPr>
        <p:spPr>
          <a:xfrm>
            <a:off x="648700" y="4359100"/>
            <a:ext cx="3381600" cy="22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400"/>
              <a:t>● Amilcar Pena</a:t>
            </a:r>
            <a:endParaRPr sz="2400"/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400"/>
              <a:t>● </a:t>
            </a:r>
            <a:r>
              <a:rPr lang="en-US" sz="2400"/>
              <a:t>Daniel Hernandez</a:t>
            </a:r>
            <a:endParaRPr sz="2400"/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400"/>
              <a:t>● </a:t>
            </a:r>
            <a:r>
              <a:rPr lang="en-US" sz="2400"/>
              <a:t>Arnold Miranda-Pino</a:t>
            </a:r>
            <a:endParaRPr sz="2400"/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400"/>
              <a:t>●</a:t>
            </a:r>
            <a:r>
              <a:rPr lang="en-US" sz="2400"/>
              <a:t> Sara Salvatierra</a:t>
            </a:r>
            <a:endParaRPr sz="2400"/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400"/>
              <a:t>●</a:t>
            </a:r>
            <a:r>
              <a:rPr lang="en-US" sz="2400"/>
              <a:t> Gabriel Nogueras</a:t>
            </a:r>
            <a:endParaRPr sz="2400"/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400"/>
              <a:t>● Justin Joseph</a:t>
            </a:r>
            <a:endParaRPr sz="2400"/>
          </a:p>
        </p:txBody>
      </p:sp>
      <p:sp>
        <p:nvSpPr>
          <p:cNvPr id="262" name="Google Shape;262;g32b704b8690_1_19"/>
          <p:cNvSpPr txBox="1"/>
          <p:nvPr>
            <p:ph idx="1" type="body"/>
          </p:nvPr>
        </p:nvSpPr>
        <p:spPr>
          <a:xfrm>
            <a:off x="648700" y="3923625"/>
            <a:ext cx="5818800" cy="5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600"/>
              <a:t>Tech. Engagement Chairs:</a:t>
            </a:r>
            <a:endParaRPr sz="3000"/>
          </a:p>
        </p:txBody>
      </p:sp>
      <p:sp>
        <p:nvSpPr>
          <p:cNvPr id="263" name="Google Shape;263;g32b704b8690_1_19"/>
          <p:cNvSpPr txBox="1"/>
          <p:nvPr>
            <p:ph idx="1" type="body"/>
          </p:nvPr>
        </p:nvSpPr>
        <p:spPr>
          <a:xfrm>
            <a:off x="3772900" y="4359100"/>
            <a:ext cx="3381600" cy="22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400"/>
              <a:t>● Thierry Laguerre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400"/>
              <a:t>● </a:t>
            </a:r>
            <a:r>
              <a:rPr lang="en-US" sz="2400"/>
              <a:t>Johan Gonzalez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400"/>
              <a:t>● </a:t>
            </a:r>
            <a:r>
              <a:rPr lang="en-US" sz="2400"/>
              <a:t>Ashley Prado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400"/>
              <a:t>●</a:t>
            </a:r>
            <a:r>
              <a:rPr lang="en-US" sz="2400"/>
              <a:t> Gabriela Machado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400"/>
              <a:t>●</a:t>
            </a:r>
            <a:r>
              <a:rPr lang="en-US" sz="2400"/>
              <a:t> Jason Jiang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400"/>
              <a:t>● Henry Cruz</a:t>
            </a:r>
            <a:endParaRPr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2b704b8690_1_35"/>
          <p:cNvSpPr/>
          <p:nvPr/>
        </p:nvSpPr>
        <p:spPr>
          <a:xfrm>
            <a:off x="0" y="0"/>
            <a:ext cx="121893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g32b704b8690_1_35"/>
          <p:cNvSpPr txBox="1"/>
          <p:nvPr>
            <p:ph type="title"/>
          </p:nvPr>
        </p:nvSpPr>
        <p:spPr>
          <a:xfrm>
            <a:off x="572493" y="238539"/>
            <a:ext cx="11018400" cy="1434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Play"/>
              <a:buNone/>
            </a:pPr>
            <a:r>
              <a:rPr lang="en-US" sz="5500"/>
              <a:t>Why Join Code Crunch?</a:t>
            </a:r>
            <a:endParaRPr/>
          </a:p>
        </p:txBody>
      </p:sp>
      <p:sp>
        <p:nvSpPr>
          <p:cNvPr id="270" name="Google Shape;270;g32b704b8690_1_35"/>
          <p:cNvSpPr/>
          <p:nvPr/>
        </p:nvSpPr>
        <p:spPr>
          <a:xfrm>
            <a:off x="572493" y="1681544"/>
            <a:ext cx="10972800" cy="18288"/>
          </a:xfrm>
          <a:custGeom>
            <a:rect b="b" l="l" r="r" t="t"/>
            <a:pathLst>
              <a:path extrusionOk="0" fill="none" h="18288" w="1097280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extrusionOk="0" h="18288" w="1097280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3725"/>
            </a:schemeClr>
          </a:solidFill>
          <a:ln cap="rnd" cmpd="sng" w="44450">
            <a:solidFill>
              <a:schemeClr val="accent2">
                <a:alpha val="73725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g32b704b8690_1_35"/>
          <p:cNvSpPr txBox="1"/>
          <p:nvPr>
            <p:ph idx="1" type="body"/>
          </p:nvPr>
        </p:nvSpPr>
        <p:spPr>
          <a:xfrm>
            <a:off x="572500" y="2071300"/>
            <a:ext cx="8046000" cy="31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en-US" sz="2400"/>
              <a:t>• Collaborate </a:t>
            </a:r>
            <a:r>
              <a:rPr lang="en-US" sz="2400"/>
              <a:t>with peers and mentors. </a:t>
            </a:r>
            <a:endParaRPr sz="2400"/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en-US" sz="2400"/>
              <a:t>• Develop </a:t>
            </a:r>
            <a:r>
              <a:rPr lang="en-US" sz="2400"/>
              <a:t>technical and leadership skills. </a:t>
            </a:r>
            <a:endParaRPr sz="2400"/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en-US" sz="2400"/>
              <a:t>• Network </a:t>
            </a:r>
            <a:r>
              <a:rPr lang="en-US" sz="2400"/>
              <a:t>with professionals from top companies. </a:t>
            </a:r>
            <a:endParaRPr sz="2400"/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en-US" sz="2400"/>
              <a:t>• Build </a:t>
            </a:r>
            <a:r>
              <a:rPr lang="en-US" sz="2400"/>
              <a:t>impactful projects and gain hands-on experience. </a:t>
            </a:r>
            <a:endParaRPr sz="2400"/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-US" sz="2400"/>
              <a:t>A welcoming and inclusive space for underrepresented groups in tech.</a:t>
            </a:r>
            <a:endParaRPr sz="2400"/>
          </a:p>
        </p:txBody>
      </p:sp>
      <p:pic>
        <p:nvPicPr>
          <p:cNvPr id="272" name="Google Shape;272;g32b704b8690_1_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73375" y="0"/>
            <a:ext cx="2015925" cy="201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2ce0f53227_0_0"/>
          <p:cNvSpPr/>
          <p:nvPr/>
        </p:nvSpPr>
        <p:spPr>
          <a:xfrm>
            <a:off x="0" y="0"/>
            <a:ext cx="121893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g32ce0f53227_0_0"/>
          <p:cNvSpPr txBox="1"/>
          <p:nvPr>
            <p:ph type="title"/>
          </p:nvPr>
        </p:nvSpPr>
        <p:spPr>
          <a:xfrm>
            <a:off x="572493" y="238539"/>
            <a:ext cx="11018400" cy="1434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Play"/>
              <a:buNone/>
            </a:pPr>
            <a:r>
              <a:rPr lang="en-US" sz="5500"/>
              <a:t>Spring 2025 Weekly Schedule</a:t>
            </a:r>
            <a:endParaRPr/>
          </a:p>
        </p:txBody>
      </p:sp>
      <p:sp>
        <p:nvSpPr>
          <p:cNvPr id="279" name="Google Shape;279;g32ce0f53227_0_0"/>
          <p:cNvSpPr/>
          <p:nvPr/>
        </p:nvSpPr>
        <p:spPr>
          <a:xfrm>
            <a:off x="572493" y="1681544"/>
            <a:ext cx="10972800" cy="18288"/>
          </a:xfrm>
          <a:custGeom>
            <a:rect b="b" l="l" r="r" t="t"/>
            <a:pathLst>
              <a:path extrusionOk="0" fill="none" h="18288" w="1097280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extrusionOk="0" h="18288" w="1097280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3725"/>
            </a:schemeClr>
          </a:solidFill>
          <a:ln cap="rnd" cmpd="sng" w="44450">
            <a:solidFill>
              <a:schemeClr val="accent2">
                <a:alpha val="73725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0" name="Google Shape;280;g32ce0f53227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73375" y="0"/>
            <a:ext cx="2015925" cy="201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g32ce0f53227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65200" y="1907300"/>
            <a:ext cx="4787400" cy="471835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2b704b8690_0_10"/>
          <p:cNvSpPr/>
          <p:nvPr/>
        </p:nvSpPr>
        <p:spPr>
          <a:xfrm>
            <a:off x="0" y="0"/>
            <a:ext cx="121893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g32b704b8690_0_10"/>
          <p:cNvSpPr txBox="1"/>
          <p:nvPr>
            <p:ph type="title"/>
          </p:nvPr>
        </p:nvSpPr>
        <p:spPr>
          <a:xfrm>
            <a:off x="572493" y="238539"/>
            <a:ext cx="11018400" cy="1434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50"/>
              <a:buFont typeface="Play"/>
              <a:buNone/>
            </a:pPr>
            <a:r>
              <a:rPr lang="en-US" sz="4850"/>
              <a:t>B</a:t>
            </a:r>
            <a:r>
              <a:rPr lang="en-US" sz="4150"/>
              <a:t>e Part of the Code Crunch Community</a:t>
            </a:r>
            <a:endParaRPr sz="3160"/>
          </a:p>
        </p:txBody>
      </p:sp>
      <p:sp>
        <p:nvSpPr>
          <p:cNvPr id="288" name="Google Shape;288;g32b704b8690_0_10"/>
          <p:cNvSpPr/>
          <p:nvPr/>
        </p:nvSpPr>
        <p:spPr>
          <a:xfrm flipH="1" rot="10800000">
            <a:off x="595300" y="1728330"/>
            <a:ext cx="10972800" cy="69769"/>
          </a:xfrm>
          <a:custGeom>
            <a:rect b="b" l="l" r="r" t="t"/>
            <a:pathLst>
              <a:path extrusionOk="0" fill="none" h="18288" w="1097280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extrusionOk="0" h="18288" w="1097280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3725"/>
            </a:schemeClr>
          </a:solidFill>
          <a:ln cap="rnd" cmpd="sng" w="44450">
            <a:solidFill>
              <a:schemeClr val="accent2">
                <a:alpha val="73725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g32b704b8690_0_10"/>
          <p:cNvSpPr txBox="1"/>
          <p:nvPr>
            <p:ph idx="1" type="body"/>
          </p:nvPr>
        </p:nvSpPr>
        <p:spPr>
          <a:xfrm>
            <a:off x="620500" y="2353125"/>
            <a:ext cx="10922400" cy="43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400"/>
              <a:t>1. RSVP </a:t>
            </a:r>
            <a:r>
              <a:rPr lang="en-US" sz="2400"/>
              <a:t>for sessions at go.fiu.edu/codecrunch. 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400"/>
              <a:t>2. Follow us </a:t>
            </a:r>
            <a:r>
              <a:rPr lang="en-US" sz="2400"/>
              <a:t>on LinkedIn, Instagram, and Discord for updates. 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400"/>
              <a:t>3. Become a member </a:t>
            </a:r>
            <a:r>
              <a:rPr lang="en-US" sz="2400"/>
              <a:t>using the QR code on this slide. 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400"/>
              <a:t>4. Attend </a:t>
            </a:r>
            <a:r>
              <a:rPr lang="en-US" sz="2400"/>
              <a:t>workshops</a:t>
            </a:r>
            <a:r>
              <a:rPr b="1" lang="en-US" sz="2400"/>
              <a:t>, participate</a:t>
            </a:r>
            <a:r>
              <a:rPr lang="en-US" sz="2400"/>
              <a:t> in events</a:t>
            </a:r>
            <a:r>
              <a:rPr b="1" lang="en-US" sz="2400"/>
              <a:t>, </a:t>
            </a:r>
            <a:r>
              <a:rPr lang="en-US" sz="2400"/>
              <a:t>and</a:t>
            </a:r>
            <a:r>
              <a:rPr b="1" lang="en-US" sz="2400"/>
              <a:t> join </a:t>
            </a:r>
            <a:r>
              <a:rPr lang="en-US" sz="2400"/>
              <a:t>our leadership team</a:t>
            </a:r>
            <a:r>
              <a:rPr b="1" lang="en-US" sz="2400"/>
              <a:t>. </a:t>
            </a:r>
            <a:endParaRPr b="1"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400"/>
              <a:t>Together, </a:t>
            </a:r>
            <a:r>
              <a:rPr lang="en-US" sz="2400"/>
              <a:t>we</a:t>
            </a:r>
            <a:r>
              <a:rPr b="1" lang="en-US" sz="2400"/>
              <a:t> innovate </a:t>
            </a:r>
            <a:r>
              <a:rPr lang="en-US" sz="2400"/>
              <a:t>and </a:t>
            </a:r>
            <a:r>
              <a:rPr b="1" lang="en-US" sz="2400"/>
              <a:t>grow.</a:t>
            </a:r>
            <a:endParaRPr b="1"/>
          </a:p>
        </p:txBody>
      </p:sp>
      <p:pic>
        <p:nvPicPr>
          <p:cNvPr id="290" name="Google Shape;290;g32b704b8690_0_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73375" y="0"/>
            <a:ext cx="2015925" cy="201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2b704b8690_1_44"/>
          <p:cNvSpPr/>
          <p:nvPr/>
        </p:nvSpPr>
        <p:spPr>
          <a:xfrm>
            <a:off x="0" y="0"/>
            <a:ext cx="121893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g32b704b8690_1_44"/>
          <p:cNvSpPr txBox="1"/>
          <p:nvPr>
            <p:ph type="title"/>
          </p:nvPr>
        </p:nvSpPr>
        <p:spPr>
          <a:xfrm>
            <a:off x="572497" y="446925"/>
            <a:ext cx="7072500" cy="1434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US" sz="5500"/>
              <a:t>What we offer at C11 Crunch Arcade</a:t>
            </a:r>
            <a:endParaRPr/>
          </a:p>
        </p:txBody>
      </p:sp>
      <p:sp>
        <p:nvSpPr>
          <p:cNvPr id="297" name="Google Shape;297;g32b704b8690_1_44"/>
          <p:cNvSpPr/>
          <p:nvPr/>
        </p:nvSpPr>
        <p:spPr>
          <a:xfrm>
            <a:off x="547293" y="1862931"/>
            <a:ext cx="10972800" cy="18288"/>
          </a:xfrm>
          <a:custGeom>
            <a:rect b="b" l="l" r="r" t="t"/>
            <a:pathLst>
              <a:path extrusionOk="0" fill="none" h="18288" w="1097280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extrusionOk="0" h="18288" w="1097280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3725"/>
            </a:schemeClr>
          </a:solidFill>
          <a:ln cap="rnd" cmpd="sng" w="44450">
            <a:solidFill>
              <a:schemeClr val="accent2">
                <a:alpha val="73725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g32b704b8690_1_44"/>
          <p:cNvSpPr txBox="1"/>
          <p:nvPr>
            <p:ph idx="1" type="body"/>
          </p:nvPr>
        </p:nvSpPr>
        <p:spPr>
          <a:xfrm>
            <a:off x="214800" y="2112200"/>
            <a:ext cx="10922400" cy="41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05000"/>
              </a:lnSpc>
              <a:spcBef>
                <a:spcPts val="1100"/>
              </a:spcBef>
              <a:spcAft>
                <a:spcPts val="0"/>
              </a:spcAft>
              <a:buSzPts val="1800"/>
              <a:buChar char="•"/>
            </a:pPr>
            <a:r>
              <a:rPr b="1" lang="en-US" sz="1800"/>
              <a:t>This 7-week Unity course</a:t>
            </a:r>
            <a:r>
              <a:rPr lang="en-US" sz="1800"/>
              <a:t> is designed to take you from a </a:t>
            </a:r>
            <a:r>
              <a:rPr b="1" lang="en-US" sz="1800"/>
              <a:t>complete beginner</a:t>
            </a:r>
            <a:r>
              <a:rPr lang="en-US" sz="1800"/>
              <a:t> to a </a:t>
            </a:r>
            <a:r>
              <a:rPr b="1" lang="en-US" sz="1800"/>
              <a:t>confident game developer</a:t>
            </a:r>
            <a:r>
              <a:rPr lang="en-US" sz="1800"/>
              <a:t> with a </a:t>
            </a:r>
            <a:r>
              <a:rPr b="1" lang="en-US" sz="1800"/>
              <a:t>fully functional game</a:t>
            </a:r>
            <a:r>
              <a:rPr lang="en-US" sz="1800"/>
              <a:t> of your own. </a:t>
            </a:r>
            <a:endParaRPr sz="1800"/>
          </a:p>
          <a:p>
            <a:pPr indent="0" lvl="0" marL="0" rtl="0" algn="l">
              <a:lnSpc>
                <a:spcPct val="105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/>
          </a:p>
          <a:p>
            <a:pPr indent="-342900" lvl="0" marL="457200" rtl="0" algn="l">
              <a:lnSpc>
                <a:spcPct val="105000"/>
              </a:lnSpc>
              <a:spcBef>
                <a:spcPts val="110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We will </a:t>
            </a:r>
            <a:r>
              <a:rPr b="1" lang="en-US" sz="1800"/>
              <a:t>guide</a:t>
            </a:r>
            <a:r>
              <a:rPr lang="en-US" sz="1800"/>
              <a:t> you through the </a:t>
            </a:r>
            <a:r>
              <a:rPr b="1" lang="en-US" sz="1800"/>
              <a:t>essential skills</a:t>
            </a:r>
            <a:r>
              <a:rPr lang="en-US" sz="1800"/>
              <a:t> needed to bring your ideas to life, including </a:t>
            </a:r>
            <a:r>
              <a:rPr b="1" lang="en-US" sz="1800"/>
              <a:t>game design principles</a:t>
            </a:r>
            <a:r>
              <a:rPr lang="en-US" sz="1800"/>
              <a:t>, </a:t>
            </a:r>
            <a:r>
              <a:rPr b="1" lang="en-US" sz="1800"/>
              <a:t>C# scripting</a:t>
            </a:r>
            <a:r>
              <a:rPr lang="en-US" sz="1800"/>
              <a:t>, </a:t>
            </a:r>
            <a:r>
              <a:rPr b="1" lang="en-US" sz="1800"/>
              <a:t>UI development</a:t>
            </a:r>
            <a:r>
              <a:rPr lang="en-US" sz="1800"/>
              <a:t>, </a:t>
            </a:r>
            <a:r>
              <a:rPr b="1" lang="en-US" sz="1800"/>
              <a:t>environment creation</a:t>
            </a:r>
            <a:r>
              <a:rPr lang="en-US" sz="1800"/>
              <a:t>, </a:t>
            </a:r>
            <a:r>
              <a:rPr b="1" lang="en-US" sz="1800"/>
              <a:t>AI implementation</a:t>
            </a:r>
            <a:r>
              <a:rPr lang="en-US" sz="1800"/>
              <a:t>, and </a:t>
            </a:r>
            <a:r>
              <a:rPr b="1" lang="en-US" sz="1800"/>
              <a:t>game polishing techniques</a:t>
            </a:r>
            <a:r>
              <a:rPr lang="en-US" sz="1800"/>
              <a:t>. </a:t>
            </a:r>
            <a:endParaRPr sz="1800"/>
          </a:p>
          <a:p>
            <a:pPr indent="0" lvl="0" marL="0" rtl="0" algn="l">
              <a:lnSpc>
                <a:spcPct val="105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/>
          </a:p>
          <a:p>
            <a:pPr indent="-342900" lvl="0" marL="457200" rtl="0" algn="l">
              <a:lnSpc>
                <a:spcPct val="105000"/>
              </a:lnSpc>
              <a:spcBef>
                <a:spcPts val="110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By the </a:t>
            </a:r>
            <a:r>
              <a:rPr b="1" lang="en-US" sz="1800"/>
              <a:t>end</a:t>
            </a:r>
            <a:r>
              <a:rPr lang="en-US" sz="1800"/>
              <a:t> of this course, you will not only have a </a:t>
            </a:r>
            <a:r>
              <a:rPr b="1" lang="en-US" sz="1800"/>
              <a:t>finished project</a:t>
            </a:r>
            <a:r>
              <a:rPr lang="en-US" sz="1800"/>
              <a:t> to showcase but also a </a:t>
            </a:r>
            <a:r>
              <a:rPr b="1" lang="en-US" sz="1800"/>
              <a:t>solid understanding</a:t>
            </a:r>
            <a:r>
              <a:rPr lang="en-US" sz="1800"/>
              <a:t> of Unity’s tools and workflows. </a:t>
            </a:r>
            <a:endParaRPr sz="1800"/>
          </a:p>
          <a:p>
            <a:pPr indent="0" lvl="0" marL="0" rtl="0" algn="l">
              <a:lnSpc>
                <a:spcPct val="105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/>
          </a:p>
          <a:p>
            <a:pPr indent="-342900" lvl="0" marL="457200" rtl="0" algn="l">
              <a:lnSpc>
                <a:spcPct val="105000"/>
              </a:lnSpc>
              <a:spcBef>
                <a:spcPts val="110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Whether you dream of </a:t>
            </a:r>
            <a:r>
              <a:rPr b="1" lang="en-US" sz="1800"/>
              <a:t>creating </a:t>
            </a:r>
            <a:r>
              <a:rPr lang="en-US" sz="1800"/>
              <a:t>your own indie game, </a:t>
            </a:r>
            <a:r>
              <a:rPr b="1" lang="en-US" sz="1800"/>
              <a:t>breaking </a:t>
            </a:r>
            <a:r>
              <a:rPr lang="en-US" sz="1800"/>
              <a:t>into the </a:t>
            </a:r>
            <a:r>
              <a:rPr b="1" lang="en-US" sz="1800"/>
              <a:t>game development industry</a:t>
            </a:r>
            <a:r>
              <a:rPr lang="en-US" sz="1800"/>
              <a:t>, or </a:t>
            </a:r>
            <a:r>
              <a:rPr b="1" lang="en-US" sz="1800"/>
              <a:t>simply exploring </a:t>
            </a:r>
            <a:r>
              <a:rPr lang="en-US" sz="1800"/>
              <a:t>your creativity, this course will give you the foundation you need to get started!</a:t>
            </a:r>
            <a:endParaRPr sz="1800"/>
          </a:p>
        </p:txBody>
      </p:sp>
      <p:pic>
        <p:nvPicPr>
          <p:cNvPr id="299" name="Google Shape;299;g32b704b8690_1_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73375" y="0"/>
            <a:ext cx="2015925" cy="201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2b704b8690_1_52"/>
          <p:cNvSpPr/>
          <p:nvPr/>
        </p:nvSpPr>
        <p:spPr>
          <a:xfrm>
            <a:off x="0" y="0"/>
            <a:ext cx="121893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g32b704b8690_1_52"/>
          <p:cNvSpPr txBox="1"/>
          <p:nvPr>
            <p:ph type="title"/>
          </p:nvPr>
        </p:nvSpPr>
        <p:spPr>
          <a:xfrm>
            <a:off x="572497" y="446925"/>
            <a:ext cx="7072500" cy="1434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US" sz="5500"/>
              <a:t>Key Dates and Structure </a:t>
            </a:r>
            <a:endParaRPr sz="55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US" sz="5500"/>
              <a:t>C11 - Crunch Arcade</a:t>
            </a:r>
            <a:endParaRPr/>
          </a:p>
        </p:txBody>
      </p:sp>
      <p:sp>
        <p:nvSpPr>
          <p:cNvPr id="306" name="Google Shape;306;g32b704b8690_1_52"/>
          <p:cNvSpPr/>
          <p:nvPr/>
        </p:nvSpPr>
        <p:spPr>
          <a:xfrm>
            <a:off x="547293" y="1862931"/>
            <a:ext cx="10972800" cy="18288"/>
          </a:xfrm>
          <a:custGeom>
            <a:rect b="b" l="l" r="r" t="t"/>
            <a:pathLst>
              <a:path extrusionOk="0" fill="none" h="18288" w="1097280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extrusionOk="0" h="18288" w="1097280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3725"/>
            </a:schemeClr>
          </a:solidFill>
          <a:ln cap="rnd" cmpd="sng" w="44450">
            <a:solidFill>
              <a:schemeClr val="accent2">
                <a:alpha val="73725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g32b704b8690_1_52"/>
          <p:cNvSpPr txBox="1"/>
          <p:nvPr>
            <p:ph idx="1" type="body"/>
          </p:nvPr>
        </p:nvSpPr>
        <p:spPr>
          <a:xfrm>
            <a:off x="572500" y="2071300"/>
            <a:ext cx="4975500" cy="47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★"/>
            </a:pPr>
            <a:r>
              <a:rPr b="1" lang="en-US" sz="1400"/>
              <a:t>Week 1: Introduction to Unity &amp; Game Development</a:t>
            </a:r>
            <a:endParaRPr sz="1400"/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US" sz="1400"/>
              <a:t>Learning what Unity is, installing Unity Engine and necessary modules for setup.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★"/>
            </a:pPr>
            <a:r>
              <a:rPr b="1" lang="en-US" sz="1400"/>
              <a:t>Week 2: Unity Components &amp; Scripting Basics</a:t>
            </a:r>
            <a:endParaRPr sz="1400"/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US" sz="1400"/>
              <a:t>Understanding physics, collisions, and writing your first C# scripts.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★"/>
            </a:pPr>
            <a:r>
              <a:rPr b="1" lang="en-US" sz="1400"/>
              <a:t>Week 3: UI &amp; Playable Character</a:t>
            </a:r>
            <a:endParaRPr sz="1400"/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US" sz="1400"/>
              <a:t>Creating UI elements, adding score systems, and implementing player movement.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★"/>
            </a:pPr>
            <a:r>
              <a:rPr b="1" lang="en-US" sz="1400"/>
              <a:t>Week 4: Environment Design &amp; Interaction</a:t>
            </a:r>
            <a:endParaRPr sz="1400"/>
          </a:p>
          <a:p>
            <a:pPr indent="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-US" sz="1400"/>
              <a:t>Designing terrain, adding collectibles, and building game logic.</a:t>
            </a:r>
            <a:endParaRPr b="1" sz="1400"/>
          </a:p>
        </p:txBody>
      </p:sp>
      <p:pic>
        <p:nvPicPr>
          <p:cNvPr id="308" name="Google Shape;308;g32b704b8690_1_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73375" y="0"/>
            <a:ext cx="2015925" cy="2015925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g32b704b8690_1_52"/>
          <p:cNvSpPr txBox="1"/>
          <p:nvPr>
            <p:ph idx="1" type="body"/>
          </p:nvPr>
        </p:nvSpPr>
        <p:spPr>
          <a:xfrm>
            <a:off x="5857200" y="2060100"/>
            <a:ext cx="4975500" cy="47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★"/>
            </a:pPr>
            <a:r>
              <a:rPr b="1" lang="en-US" sz="1400"/>
              <a:t>Week 5: AI &amp; Gameplay Mechanics</a:t>
            </a:r>
            <a:endParaRPr sz="1400"/>
          </a:p>
          <a:p>
            <a:pPr indent="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/>
              <a:t>Introducing enemies, adding combat, and designing levels.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★"/>
            </a:pPr>
            <a:r>
              <a:rPr b="1" lang="en-US" sz="1400"/>
              <a:t>Week 6: Sound, Visual Effects &amp; Testing</a:t>
            </a:r>
            <a:endParaRPr b="1" sz="1400"/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/>
              <a:t>Implementing audio, particle effects, and playtesting for final adjustments.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★"/>
            </a:pPr>
            <a:r>
              <a:rPr b="1" lang="en-US" sz="1400"/>
              <a:t>Week 7: Final Project Showcase</a:t>
            </a:r>
            <a:endParaRPr sz="1400"/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/>
              <a:t>Presenting your game, sharing your experience, and receiving feedback.</a:t>
            </a:r>
            <a:endParaRPr sz="1400"/>
          </a:p>
          <a:p>
            <a:pPr indent="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b="1" sz="1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2b704b8690_1_71"/>
          <p:cNvSpPr/>
          <p:nvPr/>
        </p:nvSpPr>
        <p:spPr>
          <a:xfrm>
            <a:off x="0" y="0"/>
            <a:ext cx="121893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g32b704b8690_1_71"/>
          <p:cNvSpPr txBox="1"/>
          <p:nvPr>
            <p:ph type="title"/>
          </p:nvPr>
        </p:nvSpPr>
        <p:spPr>
          <a:xfrm>
            <a:off x="2497447" y="2374325"/>
            <a:ext cx="7072500" cy="1434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Play"/>
              <a:buNone/>
            </a:pPr>
            <a:r>
              <a:rPr lang="en-US" sz="6000"/>
              <a:t>Let’s Get Started! </a:t>
            </a:r>
            <a:r>
              <a:rPr b="1" lang="en-US" sz="6000"/>
              <a:t>:D</a:t>
            </a:r>
            <a:endParaRPr b="1" sz="6000"/>
          </a:p>
        </p:txBody>
      </p:sp>
      <p:sp>
        <p:nvSpPr>
          <p:cNvPr id="316" name="Google Shape;316;g32b704b8690_1_71"/>
          <p:cNvSpPr/>
          <p:nvPr/>
        </p:nvSpPr>
        <p:spPr>
          <a:xfrm>
            <a:off x="547293" y="1862931"/>
            <a:ext cx="10972800" cy="18288"/>
          </a:xfrm>
          <a:custGeom>
            <a:rect b="b" l="l" r="r" t="t"/>
            <a:pathLst>
              <a:path extrusionOk="0" fill="none" h="18288" w="1097280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extrusionOk="0" h="18288" w="1097280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3725"/>
            </a:schemeClr>
          </a:solidFill>
          <a:ln cap="rnd" cmpd="sng" w="44450">
            <a:solidFill>
              <a:schemeClr val="accent2">
                <a:alpha val="73725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7" name="Google Shape;317;g32b704b8690_1_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73375" y="0"/>
            <a:ext cx="2015925" cy="201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g32b704b8690_1_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2850" y="3976750"/>
            <a:ext cx="3501690" cy="1288625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g32b704b8690_1_71"/>
          <p:cNvSpPr txBox="1"/>
          <p:nvPr>
            <p:ph type="title"/>
          </p:nvPr>
        </p:nvSpPr>
        <p:spPr>
          <a:xfrm>
            <a:off x="572497" y="446925"/>
            <a:ext cx="7072500" cy="1434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Play"/>
              <a:buNone/>
            </a:pPr>
            <a:r>
              <a:rPr lang="en-US" sz="5500"/>
              <a:t>Starting off…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2bb439bc28_0_26"/>
          <p:cNvSpPr/>
          <p:nvPr/>
        </p:nvSpPr>
        <p:spPr>
          <a:xfrm>
            <a:off x="0" y="0"/>
            <a:ext cx="121893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g32bb439bc28_0_26"/>
          <p:cNvSpPr txBox="1"/>
          <p:nvPr>
            <p:ph type="title"/>
          </p:nvPr>
        </p:nvSpPr>
        <p:spPr>
          <a:xfrm>
            <a:off x="572497" y="446925"/>
            <a:ext cx="7072500" cy="1434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Play"/>
              <a:buNone/>
            </a:pPr>
            <a:r>
              <a:rPr lang="en-US" sz="5500"/>
              <a:t>Installations!</a:t>
            </a:r>
            <a:endParaRPr/>
          </a:p>
        </p:txBody>
      </p:sp>
      <p:sp>
        <p:nvSpPr>
          <p:cNvPr id="326" name="Google Shape;326;g32bb439bc28_0_26"/>
          <p:cNvSpPr/>
          <p:nvPr/>
        </p:nvSpPr>
        <p:spPr>
          <a:xfrm>
            <a:off x="547293" y="1862931"/>
            <a:ext cx="10972800" cy="18288"/>
          </a:xfrm>
          <a:custGeom>
            <a:rect b="b" l="l" r="r" t="t"/>
            <a:pathLst>
              <a:path extrusionOk="0" fill="none" h="18288" w="1097280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extrusionOk="0" h="18288" w="1097280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3725"/>
            </a:schemeClr>
          </a:solidFill>
          <a:ln cap="rnd" cmpd="sng" w="44450">
            <a:solidFill>
              <a:schemeClr val="accent2">
                <a:alpha val="73725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g32bb439bc28_0_26"/>
          <p:cNvSpPr txBox="1"/>
          <p:nvPr>
            <p:ph idx="1" type="body"/>
          </p:nvPr>
        </p:nvSpPr>
        <p:spPr>
          <a:xfrm>
            <a:off x="572500" y="2071300"/>
            <a:ext cx="10922400" cy="45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lnSpc>
                <a:spcPct val="85000"/>
              </a:lnSpc>
              <a:spcBef>
                <a:spcPts val="11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Let's start off first by downloading </a:t>
            </a:r>
            <a:r>
              <a:rPr b="1" lang="en-US" sz="2000"/>
              <a:t>Unity </a:t>
            </a:r>
            <a:r>
              <a:rPr lang="en-US" sz="2000"/>
              <a:t>and its </a:t>
            </a:r>
            <a:r>
              <a:rPr b="1" lang="en-US" sz="2000"/>
              <a:t>necessary components</a:t>
            </a:r>
            <a:r>
              <a:rPr lang="en-US" sz="2000"/>
              <a:t>. </a:t>
            </a:r>
            <a:endParaRPr sz="2000"/>
          </a:p>
          <a:p>
            <a:pPr indent="0" lvl="0" marL="0" rtl="0" algn="l">
              <a:lnSpc>
                <a:spcPct val="85000"/>
              </a:lnSpc>
              <a:spcBef>
                <a:spcPts val="110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2000"/>
          </a:p>
          <a:p>
            <a:pPr indent="-355600" lvl="0" marL="457200" rtl="0" algn="l">
              <a:lnSpc>
                <a:spcPct val="85000"/>
              </a:lnSpc>
              <a:spcBef>
                <a:spcPts val="11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Head to: </a:t>
            </a:r>
            <a:r>
              <a:rPr b="1" lang="en-US" sz="2000" u="sng">
                <a:solidFill>
                  <a:schemeClr val="hlink"/>
                </a:solidFill>
                <a:hlinkClick r:id="rId3"/>
              </a:rPr>
              <a:t>https://unity.com/download</a:t>
            </a:r>
            <a:r>
              <a:rPr lang="en-US" sz="2000"/>
              <a:t>, and select either download for Windows, Mac or Linux depending on your system.</a:t>
            </a:r>
            <a:endParaRPr sz="2000"/>
          </a:p>
          <a:p>
            <a:pPr indent="0" lvl="0" marL="0" rtl="0" algn="l">
              <a:lnSpc>
                <a:spcPct val="85000"/>
              </a:lnSpc>
              <a:spcBef>
                <a:spcPts val="1100"/>
              </a:spcBef>
              <a:spcAft>
                <a:spcPts val="0"/>
              </a:spcAft>
              <a:buSzPts val="688"/>
              <a:buNone/>
            </a:pPr>
            <a:r>
              <a:rPr lang="en-US" sz="2000"/>
              <a:t> </a:t>
            </a:r>
            <a:endParaRPr sz="2000"/>
          </a:p>
          <a:p>
            <a:pPr indent="-355600" lvl="0" marL="457200" rtl="0" algn="l">
              <a:lnSpc>
                <a:spcPct val="85000"/>
              </a:lnSpc>
              <a:spcBef>
                <a:spcPts val="11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Then make a </a:t>
            </a:r>
            <a:r>
              <a:rPr b="1" lang="en-US" sz="2000"/>
              <a:t>free account</a:t>
            </a:r>
            <a:r>
              <a:rPr lang="en-US" sz="2000"/>
              <a:t>, and install the Unity Editor.</a:t>
            </a:r>
            <a:endParaRPr sz="2000"/>
          </a:p>
          <a:p>
            <a:pPr indent="0" lvl="0" marL="0" rtl="0" algn="l">
              <a:lnSpc>
                <a:spcPct val="85000"/>
              </a:lnSpc>
              <a:spcBef>
                <a:spcPts val="1100"/>
              </a:spcBef>
              <a:spcAft>
                <a:spcPts val="0"/>
              </a:spcAft>
              <a:buSzPts val="688"/>
              <a:buNone/>
            </a:pPr>
            <a:r>
              <a:rPr lang="en-US" sz="2000"/>
              <a:t>  </a:t>
            </a:r>
            <a:endParaRPr sz="2000"/>
          </a:p>
          <a:p>
            <a:pPr indent="-355600" lvl="0" marL="457200" rtl="0" algn="l">
              <a:lnSpc>
                <a:spcPct val="85000"/>
              </a:lnSpc>
              <a:spcBef>
                <a:spcPts val="11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After installing, go to </a:t>
            </a:r>
            <a:r>
              <a:rPr b="1" lang="en-US" sz="2000"/>
              <a:t>“Your Installs”</a:t>
            </a:r>
            <a:r>
              <a:rPr lang="en-US" sz="2000"/>
              <a:t> and select the         icon (on the right) and click on </a:t>
            </a:r>
            <a:r>
              <a:rPr b="1" lang="en-US" sz="2000"/>
              <a:t>“Add modules.”</a:t>
            </a:r>
            <a:endParaRPr b="1" sz="2000"/>
          </a:p>
          <a:p>
            <a:pPr indent="0" lvl="0" marL="0" rtl="0" algn="l">
              <a:lnSpc>
                <a:spcPct val="85000"/>
              </a:lnSpc>
              <a:spcBef>
                <a:spcPts val="110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sz="2000"/>
          </a:p>
          <a:p>
            <a:pPr indent="-355600" lvl="0" marL="457200" rtl="0" algn="l">
              <a:lnSpc>
                <a:spcPct val="85000"/>
              </a:lnSpc>
              <a:spcBef>
                <a:spcPts val="11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Select </a:t>
            </a:r>
            <a:r>
              <a:rPr b="1" lang="en-US" sz="2000"/>
              <a:t>“Microsoft Visual Studio Community 2022”</a:t>
            </a:r>
            <a:r>
              <a:rPr lang="en-US" sz="2000"/>
              <a:t> -- this will be used for </a:t>
            </a:r>
            <a:r>
              <a:rPr b="1" lang="en-US" sz="2000"/>
              <a:t>scripting</a:t>
            </a:r>
            <a:r>
              <a:rPr lang="en-US" sz="2000"/>
              <a:t>. </a:t>
            </a:r>
            <a:endParaRPr sz="2000"/>
          </a:p>
          <a:p>
            <a:pPr indent="-355600" lvl="1" marL="9144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Within the installation wizard, scroll down to the </a:t>
            </a:r>
            <a:r>
              <a:rPr b="1" lang="en-US" sz="2000"/>
              <a:t>“Gaming” </a:t>
            </a:r>
            <a:r>
              <a:rPr lang="en-US" sz="2000"/>
              <a:t>section and choose: </a:t>
            </a:r>
            <a:r>
              <a:rPr b="1" lang="en-US" sz="2000"/>
              <a:t>“Game development with Unity”</a:t>
            </a:r>
            <a:r>
              <a:rPr lang="en-US" sz="2000"/>
              <a:t> and hit the install button.</a:t>
            </a:r>
            <a:endParaRPr sz="2000"/>
          </a:p>
          <a:p>
            <a:pPr indent="0" lvl="0" marL="0" rtl="0" algn="l">
              <a:lnSpc>
                <a:spcPct val="85000"/>
              </a:lnSpc>
              <a:spcBef>
                <a:spcPts val="1100"/>
              </a:spcBef>
              <a:spcAft>
                <a:spcPts val="0"/>
              </a:spcAft>
              <a:buSzPts val="1125"/>
              <a:buNone/>
            </a:pPr>
            <a:r>
              <a:t/>
            </a:r>
            <a:endParaRPr sz="2000"/>
          </a:p>
        </p:txBody>
      </p:sp>
      <p:pic>
        <p:nvPicPr>
          <p:cNvPr id="328" name="Google Shape;328;g32bb439bc28_0_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73375" y="0"/>
            <a:ext cx="2015925" cy="201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g32bb439bc28_0_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50600" y="290800"/>
            <a:ext cx="3897545" cy="143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g32bb439bc28_0_26"/>
          <p:cNvPicPr preferRelativeResize="0"/>
          <p:nvPr/>
        </p:nvPicPr>
        <p:blipFill rotWithShape="1">
          <a:blip r:embed="rId6">
            <a:alphaModFix/>
          </a:blip>
          <a:srcRect b="39153" l="6710" r="7148" t="38894"/>
          <a:stretch/>
        </p:blipFill>
        <p:spPr>
          <a:xfrm>
            <a:off x="7513517" y="3491825"/>
            <a:ext cx="4078032" cy="103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g32bb439bc28_0_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003250" y="4650102"/>
            <a:ext cx="450775" cy="450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2" name="Google Shape;332;g32bb439bc28_0_26"/>
          <p:cNvCxnSpPr/>
          <p:nvPr/>
        </p:nvCxnSpPr>
        <p:spPr>
          <a:xfrm>
            <a:off x="10020975" y="488350"/>
            <a:ext cx="11100" cy="10392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2bb88d3e9b_0_24"/>
          <p:cNvSpPr/>
          <p:nvPr/>
        </p:nvSpPr>
        <p:spPr>
          <a:xfrm>
            <a:off x="0" y="0"/>
            <a:ext cx="121893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g32bb88d3e9b_0_24"/>
          <p:cNvSpPr txBox="1"/>
          <p:nvPr>
            <p:ph type="title"/>
          </p:nvPr>
        </p:nvSpPr>
        <p:spPr>
          <a:xfrm>
            <a:off x="2497447" y="3288725"/>
            <a:ext cx="7072500" cy="1434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Play"/>
              <a:buNone/>
            </a:pPr>
            <a:r>
              <a:rPr b="1" lang="en-US" sz="6000"/>
              <a:t>What</a:t>
            </a:r>
            <a:r>
              <a:rPr lang="en-US" sz="6000"/>
              <a:t> is Unity exactly, and </a:t>
            </a:r>
            <a:r>
              <a:rPr b="1" lang="en-US" sz="6000"/>
              <a:t>why</a:t>
            </a:r>
            <a:r>
              <a:rPr lang="en-US" sz="6000"/>
              <a:t>?</a:t>
            </a:r>
            <a:endParaRPr b="1" sz="6000"/>
          </a:p>
        </p:txBody>
      </p:sp>
      <p:sp>
        <p:nvSpPr>
          <p:cNvPr id="339" name="Google Shape;339;g32bb88d3e9b_0_24"/>
          <p:cNvSpPr/>
          <p:nvPr/>
        </p:nvSpPr>
        <p:spPr>
          <a:xfrm>
            <a:off x="547293" y="1862931"/>
            <a:ext cx="10972800" cy="18288"/>
          </a:xfrm>
          <a:custGeom>
            <a:rect b="b" l="l" r="r" t="t"/>
            <a:pathLst>
              <a:path extrusionOk="0" fill="none" h="18288" w="1097280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extrusionOk="0" h="18288" w="1097280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3725"/>
            </a:schemeClr>
          </a:solidFill>
          <a:ln cap="rnd" cmpd="sng" w="44450">
            <a:solidFill>
              <a:schemeClr val="accent2">
                <a:alpha val="73725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0" name="Google Shape;340;g32bb88d3e9b_0_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73375" y="0"/>
            <a:ext cx="2015925" cy="201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g32bb88d3e9b_0_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72150" y="4372600"/>
            <a:ext cx="3034975" cy="1116875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g32bb88d3e9b_0_24"/>
          <p:cNvSpPr txBox="1"/>
          <p:nvPr>
            <p:ph type="title"/>
          </p:nvPr>
        </p:nvSpPr>
        <p:spPr>
          <a:xfrm>
            <a:off x="572500" y="446925"/>
            <a:ext cx="7765800" cy="1434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Play"/>
              <a:buNone/>
            </a:pPr>
            <a:r>
              <a:rPr lang="en-US" sz="5500"/>
              <a:t>While that’s installing...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2bb88d3e9b_0_12"/>
          <p:cNvSpPr/>
          <p:nvPr/>
        </p:nvSpPr>
        <p:spPr>
          <a:xfrm>
            <a:off x="0" y="0"/>
            <a:ext cx="121893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g32bb88d3e9b_0_12"/>
          <p:cNvSpPr txBox="1"/>
          <p:nvPr>
            <p:ph type="title"/>
          </p:nvPr>
        </p:nvSpPr>
        <p:spPr>
          <a:xfrm>
            <a:off x="572497" y="446925"/>
            <a:ext cx="7072500" cy="1434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US" sz="5500"/>
              <a:t>Unity Lore and Overview</a:t>
            </a:r>
            <a:endParaRPr/>
          </a:p>
        </p:txBody>
      </p:sp>
      <p:sp>
        <p:nvSpPr>
          <p:cNvPr id="349" name="Google Shape;349;g32bb88d3e9b_0_12"/>
          <p:cNvSpPr/>
          <p:nvPr/>
        </p:nvSpPr>
        <p:spPr>
          <a:xfrm>
            <a:off x="547293" y="1862931"/>
            <a:ext cx="10972800" cy="18288"/>
          </a:xfrm>
          <a:custGeom>
            <a:rect b="b" l="l" r="r" t="t"/>
            <a:pathLst>
              <a:path extrusionOk="0" fill="none" h="18288" w="1097280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extrusionOk="0" h="18288" w="1097280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3725"/>
            </a:schemeClr>
          </a:solidFill>
          <a:ln cap="rnd" cmpd="sng" w="44450">
            <a:solidFill>
              <a:schemeClr val="accent2">
                <a:alpha val="73725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g32bb88d3e9b_0_12"/>
          <p:cNvSpPr txBox="1"/>
          <p:nvPr>
            <p:ph idx="1" type="body"/>
          </p:nvPr>
        </p:nvSpPr>
        <p:spPr>
          <a:xfrm>
            <a:off x="572500" y="2071300"/>
            <a:ext cx="5244600" cy="45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100"/>
              </a:spcBef>
              <a:spcAft>
                <a:spcPts val="0"/>
              </a:spcAft>
              <a:buSzPts val="1100"/>
              <a:buNone/>
            </a:pPr>
            <a:r>
              <a:rPr b="1" lang="en-US" sz="1400"/>
              <a:t>What is Unity?</a:t>
            </a:r>
            <a:endParaRPr b="1" sz="1400"/>
          </a:p>
          <a:p>
            <a:pPr indent="-317500" lvl="0" marL="457200" rtl="0" algn="l">
              <a:lnSpc>
                <a:spcPct val="105000"/>
              </a:lnSpc>
              <a:spcBef>
                <a:spcPts val="1100"/>
              </a:spcBef>
              <a:spcAft>
                <a:spcPts val="0"/>
              </a:spcAft>
              <a:buSzPts val="1400"/>
              <a:buChar char="●"/>
            </a:pPr>
            <a:r>
              <a:rPr lang="en-US" sz="1400"/>
              <a:t>A cross-platform game engine developed by Unity Technologies.</a:t>
            </a:r>
            <a:endParaRPr sz="1400"/>
          </a:p>
          <a:p>
            <a:pPr indent="-317500" lvl="0" marL="457200" rtl="0" algn="l">
              <a:lnSpc>
                <a:spcPct val="105000"/>
              </a:lnSpc>
              <a:spcBef>
                <a:spcPts val="1100"/>
              </a:spcBef>
              <a:spcAft>
                <a:spcPts val="0"/>
              </a:spcAft>
              <a:buSzPts val="1400"/>
              <a:buChar char="●"/>
            </a:pPr>
            <a:r>
              <a:rPr lang="en-US" sz="1400"/>
              <a:t>It is mainly used for creating 2D, 3D, AR, and VR applications.</a:t>
            </a:r>
            <a:endParaRPr sz="1400"/>
          </a:p>
          <a:p>
            <a:pPr indent="0" lvl="0" marL="0" rtl="0" algn="l">
              <a:lnSpc>
                <a:spcPct val="105000"/>
              </a:lnSpc>
              <a:spcBef>
                <a:spcPts val="1100"/>
              </a:spcBef>
              <a:spcAft>
                <a:spcPts val="0"/>
              </a:spcAft>
              <a:buSzPts val="1100"/>
              <a:buNone/>
            </a:pPr>
            <a:r>
              <a:rPr b="1" lang="en-US" sz="1400"/>
              <a:t>Background Information:</a:t>
            </a:r>
            <a:endParaRPr b="1" sz="1400"/>
          </a:p>
          <a:p>
            <a:pPr indent="-317500" lvl="0" marL="457200" rtl="0" algn="l">
              <a:lnSpc>
                <a:spcPct val="105000"/>
              </a:lnSpc>
              <a:spcBef>
                <a:spcPts val="1100"/>
              </a:spcBef>
              <a:spcAft>
                <a:spcPts val="0"/>
              </a:spcAft>
              <a:buSzPts val="1400"/>
              <a:buChar char="●"/>
            </a:pPr>
            <a:r>
              <a:rPr lang="en-US" sz="1400"/>
              <a:t>First released in 2005 as an Apple-exclusive engine.</a:t>
            </a:r>
            <a:endParaRPr sz="1400"/>
          </a:p>
          <a:p>
            <a:pPr indent="-317500" lvl="0" marL="457200" rtl="0" algn="l">
              <a:lnSpc>
                <a:spcPct val="105000"/>
              </a:lnSpc>
              <a:spcBef>
                <a:spcPts val="1100"/>
              </a:spcBef>
              <a:spcAft>
                <a:spcPts val="0"/>
              </a:spcAft>
              <a:buSzPts val="1400"/>
              <a:buChar char="●"/>
            </a:pPr>
            <a:r>
              <a:rPr lang="en-US" sz="1400"/>
              <a:t>Expanded to support multiple platforms, now a leading game engine.</a:t>
            </a:r>
            <a:endParaRPr sz="1400"/>
          </a:p>
          <a:p>
            <a:pPr indent="-317500" lvl="0" marL="457200" rtl="0" algn="l">
              <a:lnSpc>
                <a:spcPct val="105000"/>
              </a:lnSpc>
              <a:spcBef>
                <a:spcPts val="1100"/>
              </a:spcBef>
              <a:spcAft>
                <a:spcPts val="0"/>
              </a:spcAft>
              <a:buSzPts val="1400"/>
              <a:buChar char="●"/>
            </a:pPr>
            <a:r>
              <a:rPr lang="en-US" sz="1400"/>
              <a:t>Uses C# as its primary programming language.</a:t>
            </a:r>
            <a:endParaRPr sz="1400"/>
          </a:p>
          <a:p>
            <a:pPr indent="0" lvl="0" marL="0" rtl="0" algn="l">
              <a:lnSpc>
                <a:spcPct val="105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rPr b="1" lang="en-US" sz="1400"/>
              <a:t>What is it Used For?</a:t>
            </a:r>
            <a:endParaRPr b="1" sz="1400"/>
          </a:p>
          <a:p>
            <a:pPr indent="-317500" lvl="0" marL="457200" rtl="0" algn="l">
              <a:lnSpc>
                <a:spcPct val="105000"/>
              </a:lnSpc>
              <a:spcBef>
                <a:spcPts val="1100"/>
              </a:spcBef>
              <a:spcAft>
                <a:spcPts val="0"/>
              </a:spcAft>
              <a:buSzPts val="1400"/>
              <a:buChar char="●"/>
            </a:pPr>
            <a:r>
              <a:rPr lang="en-US" sz="1400"/>
              <a:t>Game development (PC, mobile, console, AR/VR).</a:t>
            </a:r>
            <a:endParaRPr sz="1400"/>
          </a:p>
          <a:p>
            <a:pPr indent="-317500" lvl="0" marL="457200" rtl="0" algn="l">
              <a:lnSpc>
                <a:spcPct val="105000"/>
              </a:lnSpc>
              <a:spcBef>
                <a:spcPts val="1100"/>
              </a:spcBef>
              <a:spcAft>
                <a:spcPts val="0"/>
              </a:spcAft>
              <a:buSzPts val="1400"/>
              <a:buChar char="●"/>
            </a:pPr>
            <a:r>
              <a:rPr lang="en-US" sz="1400"/>
              <a:t>Real-time simulations, architectural visualization, film, and interactive media.</a:t>
            </a:r>
            <a:endParaRPr sz="1400"/>
          </a:p>
        </p:txBody>
      </p:sp>
      <p:pic>
        <p:nvPicPr>
          <p:cNvPr id="351" name="Google Shape;351;g32bb88d3e9b_0_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73375" y="0"/>
            <a:ext cx="2015925" cy="201592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g32bb88d3e9b_0_12"/>
          <p:cNvSpPr txBox="1"/>
          <p:nvPr>
            <p:ph idx="1" type="body"/>
          </p:nvPr>
        </p:nvSpPr>
        <p:spPr>
          <a:xfrm>
            <a:off x="6126125" y="2178875"/>
            <a:ext cx="5244600" cy="45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r>
              <a:rPr b="1" lang="en-US" sz="1400"/>
              <a:t>Industry Impact:</a:t>
            </a:r>
            <a:endParaRPr b="1" sz="1400"/>
          </a:p>
          <a:p>
            <a:pPr indent="-317500" lvl="0" marL="457200" rtl="0" algn="l">
              <a:lnSpc>
                <a:spcPct val="105000"/>
              </a:lnSpc>
              <a:spcBef>
                <a:spcPts val="1100"/>
              </a:spcBef>
              <a:spcAft>
                <a:spcPts val="0"/>
              </a:spcAft>
              <a:buSzPts val="1400"/>
              <a:buChar char="●"/>
            </a:pPr>
            <a:r>
              <a:rPr lang="en-US" sz="1400"/>
              <a:t>Powers over 50% of mobile games and nearly half of all games.</a:t>
            </a:r>
            <a:endParaRPr sz="1400"/>
          </a:p>
          <a:p>
            <a:pPr indent="-317500" lvl="0" marL="457200" rtl="0" algn="l">
              <a:lnSpc>
                <a:spcPct val="105000"/>
              </a:lnSpc>
              <a:spcBef>
                <a:spcPts val="1100"/>
              </a:spcBef>
              <a:spcAft>
                <a:spcPts val="0"/>
              </a:spcAft>
              <a:buSzPts val="1400"/>
              <a:buChar char="●"/>
            </a:pPr>
            <a:r>
              <a:rPr lang="en-US" sz="1400"/>
              <a:t>Used by indie developers and major studios alike.</a:t>
            </a:r>
            <a:endParaRPr sz="1400"/>
          </a:p>
          <a:p>
            <a:pPr indent="-317500" lvl="0" marL="457200" rtl="0" algn="l">
              <a:lnSpc>
                <a:spcPct val="105000"/>
              </a:lnSpc>
              <a:spcBef>
                <a:spcPts val="1100"/>
              </a:spcBef>
              <a:spcAft>
                <a:spcPts val="0"/>
              </a:spcAft>
              <a:buSzPts val="1400"/>
              <a:buChar char="●"/>
            </a:pPr>
            <a:r>
              <a:rPr lang="en-US" sz="1400"/>
              <a:t>Integral to emerging technologies like AR/VR and metaverse applications.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-US" sz="1400"/>
              <a:t>Key Concepts in Game Development:</a:t>
            </a:r>
            <a:endParaRPr b="1" sz="1400"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b="1" lang="en-US" sz="1400"/>
              <a:t>GameObjects &amp; Components</a:t>
            </a:r>
            <a:r>
              <a:rPr lang="en-US" sz="1400"/>
              <a:t> – The building blocks of a Unity game.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-US" sz="1400"/>
              <a:t>Scripting (C#)</a:t>
            </a:r>
            <a:r>
              <a:rPr lang="en-US" sz="1400"/>
              <a:t> – Controls gameplay mechanics and interactions.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-US" sz="1400"/>
              <a:t>Physics &amp; Collisions</a:t>
            </a:r>
            <a:r>
              <a:rPr lang="en-US" sz="1400"/>
              <a:t> – Enables movement, gravity, and interactions.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-US" sz="1400"/>
              <a:t>UI &amp; User Interaction</a:t>
            </a:r>
            <a:r>
              <a:rPr lang="en-US" sz="1400"/>
              <a:t> – Menus, buttons, and player feedback.</a:t>
            </a:r>
            <a:endParaRPr b="1" sz="14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2bb88d3e9b_0_36"/>
          <p:cNvSpPr/>
          <p:nvPr/>
        </p:nvSpPr>
        <p:spPr>
          <a:xfrm>
            <a:off x="0" y="0"/>
            <a:ext cx="121893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g32bb88d3e9b_0_36"/>
          <p:cNvSpPr/>
          <p:nvPr/>
        </p:nvSpPr>
        <p:spPr>
          <a:xfrm>
            <a:off x="547293" y="1862931"/>
            <a:ext cx="10972800" cy="18288"/>
          </a:xfrm>
          <a:custGeom>
            <a:rect b="b" l="l" r="r" t="t"/>
            <a:pathLst>
              <a:path extrusionOk="0" fill="none" h="18288" w="1097280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extrusionOk="0" h="18288" w="1097280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3725"/>
            </a:schemeClr>
          </a:solidFill>
          <a:ln cap="rnd" cmpd="sng" w="44450">
            <a:solidFill>
              <a:schemeClr val="accent2">
                <a:alpha val="73725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9" name="Google Shape;359;g32bb88d3e9b_0_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73375" y="0"/>
            <a:ext cx="2015925" cy="2015925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g32bb88d3e9b_0_36"/>
          <p:cNvSpPr txBox="1"/>
          <p:nvPr>
            <p:ph type="title"/>
          </p:nvPr>
        </p:nvSpPr>
        <p:spPr>
          <a:xfrm>
            <a:off x="572500" y="446925"/>
            <a:ext cx="7765800" cy="1434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Play"/>
              <a:buNone/>
            </a:pPr>
            <a:r>
              <a:rPr lang="en-US" sz="5500"/>
              <a:t>End of Unit 1!</a:t>
            </a:r>
            <a:endParaRPr/>
          </a:p>
        </p:txBody>
      </p:sp>
      <p:sp>
        <p:nvSpPr>
          <p:cNvPr id="361" name="Google Shape;361;g32bb88d3e9b_0_36"/>
          <p:cNvSpPr txBox="1"/>
          <p:nvPr>
            <p:ph type="title"/>
          </p:nvPr>
        </p:nvSpPr>
        <p:spPr>
          <a:xfrm>
            <a:off x="2497447" y="3212525"/>
            <a:ext cx="7072500" cy="1434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Play"/>
              <a:buNone/>
            </a:pPr>
            <a:r>
              <a:rPr lang="en-US" sz="6000"/>
              <a:t>That’s </a:t>
            </a:r>
            <a:r>
              <a:rPr b="1" lang="en-US" sz="6000"/>
              <a:t>end</a:t>
            </a:r>
            <a:r>
              <a:rPr lang="en-US" sz="6000"/>
              <a:t> of today’s workshop.</a:t>
            </a:r>
            <a:endParaRPr b="1" sz="6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2d5b2b5e3c8_0_148"/>
          <p:cNvSpPr/>
          <p:nvPr/>
        </p:nvSpPr>
        <p:spPr>
          <a:xfrm>
            <a:off x="1350" y="51100"/>
            <a:ext cx="121893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g2d5b2b5e3c8_0_148"/>
          <p:cNvSpPr txBox="1"/>
          <p:nvPr>
            <p:ph idx="4294967295" type="title"/>
          </p:nvPr>
        </p:nvSpPr>
        <p:spPr>
          <a:xfrm>
            <a:off x="5541250" y="3234750"/>
            <a:ext cx="5173800" cy="861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Play"/>
              <a:buNone/>
            </a:pPr>
            <a:r>
              <a:rPr lang="en-US" sz="6500"/>
              <a:t>Q&amp;A Session</a:t>
            </a:r>
            <a:endParaRPr sz="5400"/>
          </a:p>
        </p:txBody>
      </p:sp>
      <p:pic>
        <p:nvPicPr>
          <p:cNvPr id="368" name="Google Shape;368;g2d5b2b5e3c8_0_1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73375" y="0"/>
            <a:ext cx="2015925" cy="201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g2d5b2b5e3c8_0_1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1800" y="1811163"/>
            <a:ext cx="3708475" cy="370847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29c33c8422_0_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g329c33c8422_0_0"/>
          <p:cNvSpPr/>
          <p:nvPr/>
        </p:nvSpPr>
        <p:spPr>
          <a:xfrm>
            <a:off x="0" y="0"/>
            <a:ext cx="48909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g329c33c8422_0_0"/>
          <p:cNvSpPr txBox="1"/>
          <p:nvPr>
            <p:ph type="title"/>
          </p:nvPr>
        </p:nvSpPr>
        <p:spPr>
          <a:xfrm>
            <a:off x="840150" y="3367775"/>
            <a:ext cx="3200400" cy="115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</a:pPr>
            <a:r>
              <a:rPr lang="en-US">
                <a:solidFill>
                  <a:schemeClr val="lt1"/>
                </a:solidFill>
              </a:rPr>
              <a:t>Attendance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378" name="Google Shape;378;g329c33c8422_0_0"/>
          <p:cNvGrpSpPr/>
          <p:nvPr/>
        </p:nvGrpSpPr>
        <p:grpSpPr>
          <a:xfrm>
            <a:off x="76" y="202995"/>
            <a:ext cx="1910317" cy="709685"/>
            <a:chOff x="2267504" y="2540250"/>
            <a:chExt cx="1990951" cy="739640"/>
          </a:xfrm>
        </p:grpSpPr>
        <p:sp>
          <p:nvSpPr>
            <p:cNvPr id="379" name="Google Shape;379;g329c33c8422_0_0"/>
            <p:cNvSpPr/>
            <p:nvPr/>
          </p:nvSpPr>
          <p:spPr>
            <a:xfrm>
              <a:off x="2267504" y="2540250"/>
              <a:ext cx="1990951" cy="286230"/>
            </a:xfrm>
            <a:custGeom>
              <a:rect b="b" l="l" r="r" t="t"/>
              <a:pathLst>
                <a:path extrusionOk="0" h="286230" w="1990951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g329c33c8422_0_0"/>
            <p:cNvSpPr/>
            <p:nvPr/>
          </p:nvSpPr>
          <p:spPr>
            <a:xfrm>
              <a:off x="2267504" y="2993660"/>
              <a:ext cx="1990951" cy="286230"/>
            </a:xfrm>
            <a:custGeom>
              <a:rect b="b" l="l" r="r" t="t"/>
              <a:pathLst>
                <a:path extrusionOk="0" h="286230" w="1990951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1" name="Google Shape;381;g329c33c8422_0_0"/>
          <p:cNvSpPr/>
          <p:nvPr/>
        </p:nvSpPr>
        <p:spPr>
          <a:xfrm>
            <a:off x="406260" y="4752208"/>
            <a:ext cx="365100" cy="3651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g329c33c8422_0_0"/>
          <p:cNvSpPr/>
          <p:nvPr/>
        </p:nvSpPr>
        <p:spPr>
          <a:xfrm>
            <a:off x="406260" y="4752208"/>
            <a:ext cx="365100" cy="365100"/>
          </a:xfrm>
          <a:prstGeom prst="ellipse">
            <a:avLst/>
          </a:prstGeom>
          <a:solidFill>
            <a:schemeClr val="accent6">
              <a:alpha val="28235"/>
            </a:schemeClr>
          </a:solidFill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3" name="Google Shape;383;g329c33c8422_0_0"/>
          <p:cNvGrpSpPr/>
          <p:nvPr/>
        </p:nvGrpSpPr>
        <p:grpSpPr>
          <a:xfrm>
            <a:off x="4109419" y="5539799"/>
            <a:ext cx="975146" cy="975148"/>
            <a:chOff x="5829300" y="3162300"/>
            <a:chExt cx="532256" cy="532257"/>
          </a:xfrm>
        </p:grpSpPr>
        <p:sp>
          <p:nvSpPr>
            <p:cNvPr id="384" name="Google Shape;384;g329c33c8422_0_0"/>
            <p:cNvSpPr/>
            <p:nvPr/>
          </p:nvSpPr>
          <p:spPr>
            <a:xfrm>
              <a:off x="5859208" y="3192208"/>
              <a:ext cx="112966" cy="112966"/>
            </a:xfrm>
            <a:custGeom>
              <a:rect b="b" l="l" r="r" t="t"/>
              <a:pathLst>
                <a:path extrusionOk="0" h="112966" w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g329c33c8422_0_0"/>
            <p:cNvSpPr/>
            <p:nvPr/>
          </p:nvSpPr>
          <p:spPr>
            <a:xfrm>
              <a:off x="5831205" y="3164205"/>
              <a:ext cx="230314" cy="230314"/>
            </a:xfrm>
            <a:custGeom>
              <a:rect b="b" l="l" r="r" t="t"/>
              <a:pathLst>
                <a:path extrusionOk="0" h="230314" w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g329c33c8422_0_0"/>
            <p:cNvSpPr/>
            <p:nvPr/>
          </p:nvSpPr>
          <p:spPr>
            <a:xfrm>
              <a:off x="5829300" y="3162300"/>
              <a:ext cx="294131" cy="294131"/>
            </a:xfrm>
            <a:custGeom>
              <a:rect b="b" l="l" r="r" t="t"/>
              <a:pathLst>
                <a:path extrusionOk="0" h="294131" w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g329c33c8422_0_0"/>
            <p:cNvSpPr/>
            <p:nvPr/>
          </p:nvSpPr>
          <p:spPr>
            <a:xfrm>
              <a:off x="5837205" y="3170110"/>
              <a:ext cx="337184" cy="337280"/>
            </a:xfrm>
            <a:custGeom>
              <a:rect b="b" l="l" r="r" t="t"/>
              <a:pathLst>
                <a:path extrusionOk="0" h="337280" w="337184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g329c33c8422_0_0"/>
            <p:cNvSpPr/>
            <p:nvPr/>
          </p:nvSpPr>
          <p:spPr>
            <a:xfrm>
              <a:off x="5853207" y="3186207"/>
              <a:ext cx="364617" cy="364617"/>
            </a:xfrm>
            <a:custGeom>
              <a:rect b="b" l="l" r="r" t="t"/>
              <a:pathLst>
                <a:path extrusionOk="0" h="364617" w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g329c33c8422_0_0"/>
            <p:cNvSpPr/>
            <p:nvPr/>
          </p:nvSpPr>
          <p:spPr>
            <a:xfrm>
              <a:off x="5875305" y="3208305"/>
              <a:ext cx="380238" cy="380238"/>
            </a:xfrm>
            <a:custGeom>
              <a:rect b="b" l="l" r="r" t="t"/>
              <a:pathLst>
                <a:path extrusionOk="0" h="380238" w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g329c33c8422_0_0"/>
            <p:cNvSpPr/>
            <p:nvPr/>
          </p:nvSpPr>
          <p:spPr>
            <a:xfrm>
              <a:off x="5902832" y="3235832"/>
              <a:ext cx="385191" cy="385191"/>
            </a:xfrm>
            <a:custGeom>
              <a:rect b="b" l="l" r="r" t="t"/>
              <a:pathLst>
                <a:path extrusionOk="0" h="385191" w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g329c33c8422_0_0"/>
            <p:cNvSpPr/>
            <p:nvPr/>
          </p:nvSpPr>
          <p:spPr>
            <a:xfrm>
              <a:off x="5935789" y="3268313"/>
              <a:ext cx="379761" cy="380237"/>
            </a:xfrm>
            <a:custGeom>
              <a:rect b="b" l="l" r="r" t="t"/>
              <a:pathLst>
                <a:path extrusionOk="0" h="380237" w="379761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g329c33c8422_0_0"/>
            <p:cNvSpPr/>
            <p:nvPr/>
          </p:nvSpPr>
          <p:spPr>
            <a:xfrm>
              <a:off x="5972841" y="3305841"/>
              <a:ext cx="364807" cy="364807"/>
            </a:xfrm>
            <a:custGeom>
              <a:rect b="b" l="l" r="r" t="t"/>
              <a:pathLst>
                <a:path extrusionOk="0" h="364807" w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g329c33c8422_0_0"/>
            <p:cNvSpPr/>
            <p:nvPr/>
          </p:nvSpPr>
          <p:spPr>
            <a:xfrm>
              <a:off x="6016370" y="3349466"/>
              <a:ext cx="337280" cy="337280"/>
            </a:xfrm>
            <a:custGeom>
              <a:rect b="b" l="l" r="r" t="t"/>
              <a:pathLst>
                <a:path extrusionOk="0" h="337280" w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g329c33c8422_0_0"/>
            <p:cNvSpPr/>
            <p:nvPr/>
          </p:nvSpPr>
          <p:spPr>
            <a:xfrm>
              <a:off x="6067329" y="3400425"/>
              <a:ext cx="294227" cy="294132"/>
            </a:xfrm>
            <a:custGeom>
              <a:rect b="b" l="l" r="r" t="t"/>
              <a:pathLst>
                <a:path extrusionOk="0" h="294132" w="294227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g329c33c8422_0_0"/>
            <p:cNvSpPr/>
            <p:nvPr/>
          </p:nvSpPr>
          <p:spPr>
            <a:xfrm>
              <a:off x="6129337" y="3462337"/>
              <a:ext cx="230314" cy="230314"/>
            </a:xfrm>
            <a:custGeom>
              <a:rect b="b" l="l" r="r" t="t"/>
              <a:pathLst>
                <a:path extrusionOk="0" h="230314" w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g329c33c8422_0_0"/>
            <p:cNvSpPr/>
            <p:nvPr/>
          </p:nvSpPr>
          <p:spPr>
            <a:xfrm>
              <a:off x="6218682" y="3551682"/>
              <a:ext cx="112871" cy="112871"/>
            </a:xfrm>
            <a:custGeom>
              <a:rect b="b" l="l" r="r" t="t"/>
              <a:pathLst>
                <a:path extrusionOk="0" h="112871" w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7" name="Google Shape;397;g329c33c8422_0_0"/>
          <p:cNvGrpSpPr/>
          <p:nvPr/>
        </p:nvGrpSpPr>
        <p:grpSpPr>
          <a:xfrm>
            <a:off x="5410645" y="488575"/>
            <a:ext cx="6448735" cy="5856740"/>
            <a:chOff x="-73494" y="11035"/>
            <a:chExt cx="6448735" cy="5856740"/>
          </a:xfrm>
        </p:grpSpPr>
        <p:sp>
          <p:nvSpPr>
            <p:cNvPr id="398" name="Google Shape;398;g329c33c8422_0_0"/>
            <p:cNvSpPr/>
            <p:nvPr/>
          </p:nvSpPr>
          <p:spPr>
            <a:xfrm>
              <a:off x="-73494" y="11035"/>
              <a:ext cx="6301500" cy="1233000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g329c33c8422_0_0"/>
            <p:cNvSpPr/>
            <p:nvPr/>
          </p:nvSpPr>
          <p:spPr>
            <a:xfrm>
              <a:off x="299486" y="288460"/>
              <a:ext cx="678000" cy="6780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g329c33c8422_0_0"/>
            <p:cNvSpPr/>
            <p:nvPr/>
          </p:nvSpPr>
          <p:spPr>
            <a:xfrm>
              <a:off x="1350617" y="11035"/>
              <a:ext cx="48747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g329c33c8422_0_0"/>
            <p:cNvSpPr txBox="1"/>
            <p:nvPr/>
          </p:nvSpPr>
          <p:spPr>
            <a:xfrm>
              <a:off x="1350617" y="11035"/>
              <a:ext cx="48747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0475" lIns="130475" spcFirstLastPara="1" rIns="130475" wrap="square" tIns="130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Join us for the upcoming weekly sessions this Spring 2025! </a:t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b="1" i="1" lang="en-US" sz="19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(Jan 6 - Apr 4, 2025)</a:t>
              </a:r>
              <a:endParaRPr b="1" i="1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g329c33c8422_0_0"/>
            <p:cNvSpPr/>
            <p:nvPr/>
          </p:nvSpPr>
          <p:spPr>
            <a:xfrm>
              <a:off x="-73494" y="1552282"/>
              <a:ext cx="6301500" cy="1233000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g329c33c8422_0_0"/>
            <p:cNvSpPr/>
            <p:nvPr/>
          </p:nvSpPr>
          <p:spPr>
            <a:xfrm>
              <a:off x="299486" y="1829706"/>
              <a:ext cx="678000" cy="6780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g329c33c8422_0_0"/>
            <p:cNvSpPr/>
            <p:nvPr/>
          </p:nvSpPr>
          <p:spPr>
            <a:xfrm>
              <a:off x="1350617" y="1552282"/>
              <a:ext cx="48747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g329c33c8422_0_0"/>
            <p:cNvSpPr txBox="1"/>
            <p:nvPr/>
          </p:nvSpPr>
          <p:spPr>
            <a:xfrm>
              <a:off x="1350617" y="1552282"/>
              <a:ext cx="48747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0475" lIns="130475" spcFirstLastPara="1" rIns="130475" wrap="square" tIns="130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Monday: C5 </a:t>
              </a: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1PM / </a:t>
              </a:r>
              <a:r>
                <a:rPr b="1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C3 </a:t>
              </a: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2PM </a:t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Tuesdays: C7 </a:t>
              </a: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1PM </a:t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Wednesdays: C5 </a:t>
              </a: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1PM / </a:t>
              </a:r>
              <a:r>
                <a:rPr b="1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C1 </a:t>
              </a: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2PM  </a:t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Thursdays: C6 </a:t>
              </a: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1PM / </a:t>
              </a:r>
              <a:r>
                <a:rPr b="1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C4 </a:t>
              </a: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2PM / </a:t>
              </a:r>
              <a:r>
                <a:rPr b="1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C8 </a:t>
              </a: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3PM </a:t>
              </a:r>
              <a:endPara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Friday: C2 </a:t>
              </a: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1PM / </a:t>
              </a:r>
              <a:r>
                <a:rPr b="1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C9 </a:t>
              </a: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2PM / </a:t>
              </a:r>
              <a:r>
                <a:rPr b="1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C10 </a:t>
              </a: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3PM</a:t>
              </a:r>
              <a:endPara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g329c33c8422_0_0"/>
            <p:cNvSpPr/>
            <p:nvPr/>
          </p:nvSpPr>
          <p:spPr>
            <a:xfrm>
              <a:off x="-73494" y="3093529"/>
              <a:ext cx="6301500" cy="1233000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g329c33c8422_0_0"/>
            <p:cNvSpPr/>
            <p:nvPr/>
          </p:nvSpPr>
          <p:spPr>
            <a:xfrm>
              <a:off x="299486" y="3370953"/>
              <a:ext cx="678000" cy="6780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g329c33c8422_0_0"/>
            <p:cNvSpPr/>
            <p:nvPr/>
          </p:nvSpPr>
          <p:spPr>
            <a:xfrm>
              <a:off x="1350617" y="3093529"/>
              <a:ext cx="48747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g329c33c8422_0_0"/>
            <p:cNvSpPr txBox="1"/>
            <p:nvPr/>
          </p:nvSpPr>
          <p:spPr>
            <a:xfrm>
              <a:off x="1350617" y="3093529"/>
              <a:ext cx="48747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0475" lIns="130475" spcFirstLastPara="1" rIns="130475" wrap="square" tIns="130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RSVP </a:t>
              </a:r>
              <a:r>
                <a:rPr b="0" i="0" lang="en-US" sz="25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LU.MA/CODECRUNCH</a:t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g329c33c8422_0_0"/>
            <p:cNvSpPr/>
            <p:nvPr/>
          </p:nvSpPr>
          <p:spPr>
            <a:xfrm>
              <a:off x="-73494" y="4634775"/>
              <a:ext cx="6301500" cy="1233000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g329c33c8422_0_0"/>
            <p:cNvSpPr/>
            <p:nvPr/>
          </p:nvSpPr>
          <p:spPr>
            <a:xfrm>
              <a:off x="299486" y="4912200"/>
              <a:ext cx="678000" cy="6780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 cap="flat" cmpd="sng" w="19050">
              <a:solidFill>
                <a:schemeClr val="lt1">
                  <a:alpha val="0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g329c33c8422_0_0"/>
            <p:cNvSpPr/>
            <p:nvPr/>
          </p:nvSpPr>
          <p:spPr>
            <a:xfrm>
              <a:off x="1200841" y="4634775"/>
              <a:ext cx="51744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g329c33c8422_0_0"/>
            <p:cNvSpPr txBox="1"/>
            <p:nvPr/>
          </p:nvSpPr>
          <p:spPr>
            <a:xfrm>
              <a:off x="1200841" y="4634775"/>
              <a:ext cx="5174400" cy="123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0475" lIns="130475" spcFirstLastPara="1" rIns="130475" wrap="square" tIns="1304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Arial"/>
                <a:buNone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Your feedback helps us improve. Share your thoughts!</a:t>
              </a:r>
              <a:br>
                <a:rPr b="0" i="0" lang="en-US" sz="19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1" i="0" lang="en-US" sz="19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Go to our website: </a:t>
              </a:r>
              <a:r>
                <a:rPr b="0" i="0" lang="en-US" sz="19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go.fiu.edu/codecrunch</a:t>
              </a:r>
              <a:endPara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14" name="Google Shape;414;g329c33c8422_0_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709369" y="4633800"/>
            <a:ext cx="1461966" cy="1446766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g329c33c8422_0_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59351" y="1084525"/>
            <a:ext cx="2171899" cy="2171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2024-09-23T23:44:58Z</dcterms:created>
  <dc:creator>Amilcar Pena</dc:creator>
</cp:coreProperties>
</file>